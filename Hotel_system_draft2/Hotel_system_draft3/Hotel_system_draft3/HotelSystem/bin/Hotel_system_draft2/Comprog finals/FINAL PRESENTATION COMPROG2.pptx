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CMU Serif" charset="1" panose="02000603000000000000"/>
      <p:regular r:id="rId31"/>
    </p:embeddedFont>
    <p:embeddedFont>
      <p:font typeface="Source Sans Pro Bold" charset="1" panose="020B0703030403020204"/>
      <p:regular r:id="rId32"/>
    </p:embeddedFont>
    <p:embeddedFont>
      <p:font typeface="Source Sans Pro" charset="1" panose="020B050303040302020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jpeg" Type="http://schemas.openxmlformats.org/officeDocument/2006/relationships/image"/><Relationship Id="rId4" Target="../media/image2.jpeg" Type="http://schemas.openxmlformats.org/officeDocument/2006/relationships/image"/><Relationship Id="rId5"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jpeg" Type="http://schemas.openxmlformats.org/officeDocument/2006/relationships/image"/><Relationship Id="rId4" Target="../media/image2.jpeg" Type="http://schemas.openxmlformats.org/officeDocument/2006/relationships/image"/><Relationship Id="rId5" Target="../media/image8.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jpeg" Type="http://schemas.openxmlformats.org/officeDocument/2006/relationships/image"/><Relationship Id="rId4" Target="../media/image2.jpeg" Type="http://schemas.openxmlformats.org/officeDocument/2006/relationships/image"/><Relationship Id="rId5" Target="../media/image8.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jpeg" Type="http://schemas.openxmlformats.org/officeDocument/2006/relationships/image"/><Relationship Id="rId4" Target="../media/image2.jpeg" Type="http://schemas.openxmlformats.org/officeDocument/2006/relationships/image"/><Relationship Id="rId5" Target="../media/image8.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jpeg" Type="http://schemas.openxmlformats.org/officeDocument/2006/relationships/image"/><Relationship Id="rId4" Target="../media/image2.jpeg" Type="http://schemas.openxmlformats.org/officeDocument/2006/relationships/image"/><Relationship Id="rId5" Target="../media/image8.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5.jpeg" Type="http://schemas.openxmlformats.org/officeDocument/2006/relationships/image"/><Relationship Id="rId4" Target="../media/image2.jpeg" Type="http://schemas.openxmlformats.org/officeDocument/2006/relationships/image"/><Relationship Id="rId5" Target="../media/image8.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grpSp>
        <p:nvGrpSpPr>
          <p:cNvPr name="Group 2" id="2"/>
          <p:cNvGrpSpPr/>
          <p:nvPr/>
        </p:nvGrpSpPr>
        <p:grpSpPr>
          <a:xfrm rot="0">
            <a:off x="15201900" y="0"/>
            <a:ext cx="3086100" cy="30861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F3139"/>
            </a:soli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1028700"/>
            <a:ext cx="16230600" cy="8229600"/>
            <a:chOff x="0" y="0"/>
            <a:chExt cx="21640800" cy="10972800"/>
          </a:xfrm>
        </p:grpSpPr>
        <p:pic>
          <p:nvPicPr>
            <p:cNvPr name="Picture 6" id="6"/>
            <p:cNvPicPr>
              <a:picLocks noChangeAspect="true"/>
            </p:cNvPicPr>
            <p:nvPr/>
          </p:nvPicPr>
          <p:blipFill>
            <a:blip r:embed="rId2"/>
            <a:srcRect l="0" t="24647" r="0" b="24647"/>
            <a:stretch>
              <a:fillRect/>
            </a:stretch>
          </p:blipFill>
          <p:spPr>
            <a:xfrm flipH="false" flipV="false">
              <a:off x="0" y="0"/>
              <a:ext cx="21640800" cy="10972800"/>
            </a:xfrm>
            <a:prstGeom prst="rect">
              <a:avLst/>
            </a:prstGeom>
          </p:spPr>
        </p:pic>
      </p:grpSp>
      <p:grpSp>
        <p:nvGrpSpPr>
          <p:cNvPr name="Group 7" id="7"/>
          <p:cNvGrpSpPr/>
          <p:nvPr/>
        </p:nvGrpSpPr>
        <p:grpSpPr>
          <a:xfrm rot="0">
            <a:off x="592066" y="5143500"/>
            <a:ext cx="9395308" cy="4551434"/>
            <a:chOff x="0" y="0"/>
            <a:chExt cx="2474484" cy="1198731"/>
          </a:xfrm>
        </p:grpSpPr>
        <p:sp>
          <p:nvSpPr>
            <p:cNvPr name="Freeform 8" id="8"/>
            <p:cNvSpPr/>
            <p:nvPr/>
          </p:nvSpPr>
          <p:spPr>
            <a:xfrm flipH="false" flipV="false" rot="0">
              <a:off x="0" y="0"/>
              <a:ext cx="2474484" cy="1198731"/>
            </a:xfrm>
            <a:custGeom>
              <a:avLst/>
              <a:gdLst/>
              <a:ahLst/>
              <a:cxnLst/>
              <a:rect r="r" b="b" t="t" l="l"/>
              <a:pathLst>
                <a:path h="1198731" w="2474484">
                  <a:moveTo>
                    <a:pt x="0" y="0"/>
                  </a:moveTo>
                  <a:lnTo>
                    <a:pt x="2474484" y="0"/>
                  </a:lnTo>
                  <a:lnTo>
                    <a:pt x="2474484" y="1198731"/>
                  </a:lnTo>
                  <a:lnTo>
                    <a:pt x="0" y="1198731"/>
                  </a:lnTo>
                  <a:close/>
                </a:path>
              </a:pathLst>
            </a:custGeom>
            <a:solidFill>
              <a:srgbClr val="4F3139">
                <a:alpha val="94902"/>
              </a:srgbClr>
            </a:solidFill>
          </p:spPr>
        </p:sp>
        <p:sp>
          <p:nvSpPr>
            <p:cNvPr name="TextBox 9" id="9"/>
            <p:cNvSpPr txBox="true"/>
            <p:nvPr/>
          </p:nvSpPr>
          <p:spPr>
            <a:xfrm>
              <a:off x="0" y="-38100"/>
              <a:ext cx="2474484" cy="1236831"/>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576423" y="6113360"/>
            <a:ext cx="1245141" cy="47625"/>
            <a:chOff x="0" y="0"/>
            <a:chExt cx="327938" cy="12543"/>
          </a:xfrm>
        </p:grpSpPr>
        <p:sp>
          <p:nvSpPr>
            <p:cNvPr name="Freeform 11" id="11"/>
            <p:cNvSpPr/>
            <p:nvPr/>
          </p:nvSpPr>
          <p:spPr>
            <a:xfrm flipH="false" flipV="false" rot="0">
              <a:off x="0" y="0"/>
              <a:ext cx="327938" cy="12543"/>
            </a:xfrm>
            <a:custGeom>
              <a:avLst/>
              <a:gdLst/>
              <a:ahLst/>
              <a:cxnLst/>
              <a:rect r="r" b="b" t="t" l="l"/>
              <a:pathLst>
                <a:path h="12543" w="327938">
                  <a:moveTo>
                    <a:pt x="0" y="0"/>
                  </a:moveTo>
                  <a:lnTo>
                    <a:pt x="327938" y="0"/>
                  </a:lnTo>
                  <a:lnTo>
                    <a:pt x="327938" y="12543"/>
                  </a:lnTo>
                  <a:lnTo>
                    <a:pt x="0" y="12543"/>
                  </a:lnTo>
                  <a:close/>
                </a:path>
              </a:pathLst>
            </a:custGeom>
            <a:solidFill>
              <a:srgbClr val="F4F2F1"/>
            </a:solidFill>
          </p:spPr>
        </p:sp>
        <p:sp>
          <p:nvSpPr>
            <p:cNvPr name="TextBox 12" id="12"/>
            <p:cNvSpPr txBox="true"/>
            <p:nvPr/>
          </p:nvSpPr>
          <p:spPr>
            <a:xfrm>
              <a:off x="0" y="-38100"/>
              <a:ext cx="327938" cy="50643"/>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2938469" y="6113360"/>
            <a:ext cx="325026" cy="47625"/>
            <a:chOff x="0" y="0"/>
            <a:chExt cx="85604" cy="12543"/>
          </a:xfrm>
        </p:grpSpPr>
        <p:sp>
          <p:nvSpPr>
            <p:cNvPr name="Freeform 14" id="14"/>
            <p:cNvSpPr/>
            <p:nvPr/>
          </p:nvSpPr>
          <p:spPr>
            <a:xfrm flipH="false" flipV="false" rot="0">
              <a:off x="0" y="0"/>
              <a:ext cx="85604" cy="12543"/>
            </a:xfrm>
            <a:custGeom>
              <a:avLst/>
              <a:gdLst/>
              <a:ahLst/>
              <a:cxnLst/>
              <a:rect r="r" b="b" t="t" l="l"/>
              <a:pathLst>
                <a:path h="12543" w="85604">
                  <a:moveTo>
                    <a:pt x="0" y="0"/>
                  </a:moveTo>
                  <a:lnTo>
                    <a:pt x="85604" y="0"/>
                  </a:lnTo>
                  <a:lnTo>
                    <a:pt x="85604" y="12543"/>
                  </a:lnTo>
                  <a:lnTo>
                    <a:pt x="0" y="12543"/>
                  </a:lnTo>
                  <a:close/>
                </a:path>
              </a:pathLst>
            </a:custGeom>
            <a:solidFill>
              <a:srgbClr val="F4F2F1"/>
            </a:solidFill>
          </p:spPr>
        </p:sp>
        <p:sp>
          <p:nvSpPr>
            <p:cNvPr name="TextBox 15" id="15"/>
            <p:cNvSpPr txBox="true"/>
            <p:nvPr/>
          </p:nvSpPr>
          <p:spPr>
            <a:xfrm>
              <a:off x="0" y="-38100"/>
              <a:ext cx="85604" cy="50643"/>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528115" y="5951748"/>
            <a:ext cx="8459259" cy="2844464"/>
          </a:xfrm>
          <a:prstGeom prst="rect">
            <a:avLst/>
          </a:prstGeom>
        </p:spPr>
        <p:txBody>
          <a:bodyPr anchor="t" rtlCol="false" tIns="0" lIns="0" bIns="0" rIns="0">
            <a:spAutoFit/>
          </a:bodyPr>
          <a:lstStyle/>
          <a:p>
            <a:pPr algn="l">
              <a:lnSpc>
                <a:spcPts val="23293"/>
              </a:lnSpc>
              <a:spcBef>
                <a:spcPct val="0"/>
              </a:spcBef>
            </a:pPr>
            <a:r>
              <a:rPr lang="en-US" b="true" sz="16638">
                <a:solidFill>
                  <a:srgbClr val="F4F2F1"/>
                </a:solidFill>
                <a:latin typeface="CMU Serif"/>
                <a:ea typeface="CMU Serif"/>
                <a:cs typeface="CMU Serif"/>
                <a:sym typeface="CMU Serif"/>
              </a:rPr>
              <a:t>SYNC</a:t>
            </a:r>
          </a:p>
        </p:txBody>
      </p:sp>
      <p:sp>
        <p:nvSpPr>
          <p:cNvPr name="TextBox 17" id="17"/>
          <p:cNvSpPr txBox="true"/>
          <p:nvPr/>
        </p:nvSpPr>
        <p:spPr>
          <a:xfrm rot="0">
            <a:off x="1576423" y="8563110"/>
            <a:ext cx="9322174" cy="701121"/>
          </a:xfrm>
          <a:prstGeom prst="rect">
            <a:avLst/>
          </a:prstGeom>
        </p:spPr>
        <p:txBody>
          <a:bodyPr anchor="t" rtlCol="false" tIns="0" lIns="0" bIns="0" rIns="0">
            <a:spAutoFit/>
          </a:bodyPr>
          <a:lstStyle/>
          <a:p>
            <a:pPr algn="l">
              <a:lnSpc>
                <a:spcPts val="2833"/>
              </a:lnSpc>
              <a:spcBef>
                <a:spcPct val="0"/>
              </a:spcBef>
            </a:pPr>
            <a:r>
              <a:rPr lang="en-US" b="true" sz="2023" spc="1455">
                <a:solidFill>
                  <a:srgbClr val="F4F2F1"/>
                </a:solidFill>
                <a:latin typeface="Source Sans Pro Bold"/>
                <a:ea typeface="Source Sans Pro Bold"/>
                <a:cs typeface="Source Sans Pro Bold"/>
                <a:sym typeface="Source Sans Pro Bold"/>
              </a:rPr>
              <a:t>SUITES HOTEL RESERVATION 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grpSp>
        <p:nvGrpSpPr>
          <p:cNvPr name="Group 2" id="2"/>
          <p:cNvGrpSpPr/>
          <p:nvPr/>
        </p:nvGrpSpPr>
        <p:grpSpPr>
          <a:xfrm rot="0">
            <a:off x="0" y="1666125"/>
            <a:ext cx="8053090" cy="6135599"/>
            <a:chOff x="0" y="0"/>
            <a:chExt cx="10737453" cy="8180799"/>
          </a:xfrm>
        </p:grpSpPr>
        <p:pic>
          <p:nvPicPr>
            <p:cNvPr name="Picture 3" id="3"/>
            <p:cNvPicPr>
              <a:picLocks noChangeAspect="true"/>
            </p:cNvPicPr>
            <p:nvPr/>
          </p:nvPicPr>
          <p:blipFill>
            <a:blip r:embed="rId2"/>
            <a:srcRect l="0" t="19304" r="0" b="4506"/>
            <a:stretch>
              <a:fillRect/>
            </a:stretch>
          </p:blipFill>
          <p:spPr>
            <a:xfrm flipH="false" flipV="false">
              <a:off x="0" y="0"/>
              <a:ext cx="10737453" cy="8180799"/>
            </a:xfrm>
            <a:prstGeom prst="rect">
              <a:avLst/>
            </a:prstGeom>
          </p:spPr>
        </p:pic>
      </p:grpSp>
      <p:grpSp>
        <p:nvGrpSpPr>
          <p:cNvPr name="Group 4" id="4"/>
          <p:cNvGrpSpPr/>
          <p:nvPr/>
        </p:nvGrpSpPr>
        <p:grpSpPr>
          <a:xfrm rot="0">
            <a:off x="9196522" y="1666125"/>
            <a:ext cx="1245141" cy="47625"/>
            <a:chOff x="0" y="0"/>
            <a:chExt cx="327938" cy="12543"/>
          </a:xfrm>
        </p:grpSpPr>
        <p:sp>
          <p:nvSpPr>
            <p:cNvPr name="Freeform 5" id="5"/>
            <p:cNvSpPr/>
            <p:nvPr/>
          </p:nvSpPr>
          <p:spPr>
            <a:xfrm flipH="false" flipV="false" rot="0">
              <a:off x="0" y="0"/>
              <a:ext cx="327938" cy="12543"/>
            </a:xfrm>
            <a:custGeom>
              <a:avLst/>
              <a:gdLst/>
              <a:ahLst/>
              <a:cxnLst/>
              <a:rect r="r" b="b" t="t" l="l"/>
              <a:pathLst>
                <a:path h="12543" w="327938">
                  <a:moveTo>
                    <a:pt x="0" y="0"/>
                  </a:moveTo>
                  <a:lnTo>
                    <a:pt x="327938" y="0"/>
                  </a:lnTo>
                  <a:lnTo>
                    <a:pt x="327938" y="12543"/>
                  </a:lnTo>
                  <a:lnTo>
                    <a:pt x="0" y="12543"/>
                  </a:lnTo>
                  <a:close/>
                </a:path>
              </a:pathLst>
            </a:custGeom>
            <a:solidFill>
              <a:srgbClr val="8F5B69"/>
            </a:solidFill>
          </p:spPr>
        </p:sp>
        <p:sp>
          <p:nvSpPr>
            <p:cNvPr name="TextBox 6" id="6"/>
            <p:cNvSpPr txBox="true"/>
            <p:nvPr/>
          </p:nvSpPr>
          <p:spPr>
            <a:xfrm>
              <a:off x="0" y="-38100"/>
              <a:ext cx="327938" cy="50643"/>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0558569" y="1666125"/>
            <a:ext cx="325026" cy="47625"/>
            <a:chOff x="0" y="0"/>
            <a:chExt cx="85604" cy="12543"/>
          </a:xfrm>
        </p:grpSpPr>
        <p:sp>
          <p:nvSpPr>
            <p:cNvPr name="Freeform 8" id="8"/>
            <p:cNvSpPr/>
            <p:nvPr/>
          </p:nvSpPr>
          <p:spPr>
            <a:xfrm flipH="false" flipV="false" rot="0">
              <a:off x="0" y="0"/>
              <a:ext cx="85604" cy="12543"/>
            </a:xfrm>
            <a:custGeom>
              <a:avLst/>
              <a:gdLst/>
              <a:ahLst/>
              <a:cxnLst/>
              <a:rect r="r" b="b" t="t" l="l"/>
              <a:pathLst>
                <a:path h="12543" w="85604">
                  <a:moveTo>
                    <a:pt x="0" y="0"/>
                  </a:moveTo>
                  <a:lnTo>
                    <a:pt x="85604" y="0"/>
                  </a:lnTo>
                  <a:lnTo>
                    <a:pt x="85604" y="12543"/>
                  </a:lnTo>
                  <a:lnTo>
                    <a:pt x="0" y="12543"/>
                  </a:lnTo>
                  <a:close/>
                </a:path>
              </a:pathLst>
            </a:custGeom>
            <a:solidFill>
              <a:srgbClr val="8F5B69"/>
            </a:solidFill>
          </p:spPr>
        </p:sp>
        <p:sp>
          <p:nvSpPr>
            <p:cNvPr name="TextBox 9" id="9"/>
            <p:cNvSpPr txBox="true"/>
            <p:nvPr/>
          </p:nvSpPr>
          <p:spPr>
            <a:xfrm>
              <a:off x="0" y="-38100"/>
              <a:ext cx="85604" cy="50643"/>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511449" y="7032600"/>
            <a:ext cx="5030192" cy="1538249"/>
            <a:chOff x="0" y="0"/>
            <a:chExt cx="1324824" cy="405136"/>
          </a:xfrm>
        </p:grpSpPr>
        <p:sp>
          <p:nvSpPr>
            <p:cNvPr name="Freeform 11" id="11"/>
            <p:cNvSpPr/>
            <p:nvPr/>
          </p:nvSpPr>
          <p:spPr>
            <a:xfrm flipH="false" flipV="false" rot="0">
              <a:off x="0" y="0"/>
              <a:ext cx="1324824" cy="405136"/>
            </a:xfrm>
            <a:custGeom>
              <a:avLst/>
              <a:gdLst/>
              <a:ahLst/>
              <a:cxnLst/>
              <a:rect r="r" b="b" t="t" l="l"/>
              <a:pathLst>
                <a:path h="405136" w="1324824">
                  <a:moveTo>
                    <a:pt x="0" y="0"/>
                  </a:moveTo>
                  <a:lnTo>
                    <a:pt x="1324824" y="0"/>
                  </a:lnTo>
                  <a:lnTo>
                    <a:pt x="1324824" y="405136"/>
                  </a:lnTo>
                  <a:lnTo>
                    <a:pt x="0" y="405136"/>
                  </a:lnTo>
                  <a:close/>
                </a:path>
              </a:pathLst>
            </a:custGeom>
            <a:solidFill>
              <a:srgbClr val="4F3139"/>
            </a:solidFill>
          </p:spPr>
        </p:sp>
        <p:sp>
          <p:nvSpPr>
            <p:cNvPr name="TextBox 12" id="12"/>
            <p:cNvSpPr txBox="true"/>
            <p:nvPr/>
          </p:nvSpPr>
          <p:spPr>
            <a:xfrm>
              <a:off x="0" y="-38100"/>
              <a:ext cx="1324824" cy="443236"/>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995858" y="7539827"/>
            <a:ext cx="885910" cy="523794"/>
          </a:xfrm>
          <a:custGeom>
            <a:avLst/>
            <a:gdLst/>
            <a:ahLst/>
            <a:cxnLst/>
            <a:rect r="r" b="b" t="t" l="l"/>
            <a:pathLst>
              <a:path h="523794" w="885910">
                <a:moveTo>
                  <a:pt x="0" y="0"/>
                </a:moveTo>
                <a:lnTo>
                  <a:pt x="885911" y="0"/>
                </a:lnTo>
                <a:lnTo>
                  <a:pt x="885911" y="523795"/>
                </a:lnTo>
                <a:lnTo>
                  <a:pt x="0" y="5237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9144000" y="1924545"/>
            <a:ext cx="6546825" cy="931599"/>
          </a:xfrm>
          <a:prstGeom prst="rect">
            <a:avLst/>
          </a:prstGeom>
        </p:spPr>
        <p:txBody>
          <a:bodyPr anchor="t" rtlCol="false" tIns="0" lIns="0" bIns="0" rIns="0">
            <a:spAutoFit/>
          </a:bodyPr>
          <a:lstStyle/>
          <a:p>
            <a:pPr algn="l">
              <a:lnSpc>
                <a:spcPts val="7440"/>
              </a:lnSpc>
            </a:pPr>
            <a:r>
              <a:rPr lang="en-US" sz="6000" b="true">
                <a:solidFill>
                  <a:srgbClr val="000000"/>
                </a:solidFill>
                <a:latin typeface="CMU Serif"/>
                <a:ea typeface="CMU Serif"/>
                <a:cs typeface="CMU Serif"/>
                <a:sym typeface="CMU Serif"/>
              </a:rPr>
              <a:t>Project Description</a:t>
            </a:r>
          </a:p>
        </p:txBody>
      </p:sp>
      <p:sp>
        <p:nvSpPr>
          <p:cNvPr name="TextBox 15" id="15"/>
          <p:cNvSpPr txBox="true"/>
          <p:nvPr/>
        </p:nvSpPr>
        <p:spPr>
          <a:xfrm rot="0">
            <a:off x="8802871" y="3567196"/>
            <a:ext cx="8747951" cy="5672044"/>
          </a:xfrm>
          <a:prstGeom prst="rect">
            <a:avLst/>
          </a:prstGeom>
        </p:spPr>
        <p:txBody>
          <a:bodyPr anchor="t" rtlCol="false" tIns="0" lIns="0" bIns="0" rIns="0">
            <a:spAutoFit/>
          </a:bodyPr>
          <a:lstStyle/>
          <a:p>
            <a:pPr algn="just">
              <a:lnSpc>
                <a:spcPts val="4154"/>
              </a:lnSpc>
            </a:pPr>
            <a:r>
              <a:rPr lang="en-US" sz="2967">
                <a:solidFill>
                  <a:srgbClr val="201E1E"/>
                </a:solidFill>
                <a:latin typeface="Source Sans Pro"/>
                <a:ea typeface="Source Sans Pro"/>
                <a:cs typeface="Source Sans Pro"/>
                <a:sym typeface="Source Sans Pro"/>
              </a:rPr>
              <a:t>This system assists hotel staff with daily operations. It allows them to register new guests or retrieve existing records, book rooms, and automatically compute costs and discounts for seniors or persons with disabilities. Real time room availability shows which rooms are vacant, and all data is securely stored in a MySQL database. </a:t>
            </a:r>
          </a:p>
          <a:p>
            <a:pPr algn="just">
              <a:lnSpc>
                <a:spcPts val="4154"/>
              </a:lnSpc>
            </a:pPr>
          </a:p>
          <a:p>
            <a:pPr algn="just">
              <a:lnSpc>
                <a:spcPts val="4154"/>
              </a:lnSpc>
              <a:spcBef>
                <a:spcPct val="0"/>
              </a:spcBef>
            </a:pPr>
            <a:r>
              <a:rPr lang="en-US" sz="2967">
                <a:solidFill>
                  <a:srgbClr val="201E1E"/>
                </a:solidFill>
                <a:latin typeface="Source Sans Pro"/>
                <a:ea typeface="Source Sans Pro"/>
                <a:cs typeface="Source Sans Pro"/>
                <a:sym typeface="Source Sans Pro"/>
              </a:rPr>
              <a:t>For active guests, staff can filter booking records, extend stays, and process room upgrades as needed.</a:t>
            </a:r>
          </a:p>
          <a:p>
            <a:pPr algn="just">
              <a:lnSpc>
                <a:spcPts val="4154"/>
              </a:lnSpc>
              <a:spcBef>
                <a:spcPct val="0"/>
              </a:spcBef>
            </a:pPr>
          </a:p>
        </p:txBody>
      </p:sp>
      <p:sp>
        <p:nvSpPr>
          <p:cNvPr name="TextBox 16" id="16"/>
          <p:cNvSpPr txBox="true"/>
          <p:nvPr/>
        </p:nvSpPr>
        <p:spPr>
          <a:xfrm rot="0">
            <a:off x="9606097" y="3046644"/>
            <a:ext cx="4694104" cy="339576"/>
          </a:xfrm>
          <a:prstGeom prst="rect">
            <a:avLst/>
          </a:prstGeom>
        </p:spPr>
        <p:txBody>
          <a:bodyPr anchor="t" rtlCol="false" tIns="0" lIns="0" bIns="0" rIns="0">
            <a:spAutoFit/>
          </a:bodyPr>
          <a:lstStyle/>
          <a:p>
            <a:pPr algn="l">
              <a:lnSpc>
                <a:spcPts val="2799"/>
              </a:lnSpc>
              <a:spcBef>
                <a:spcPct val="0"/>
              </a:spcBef>
            </a:pPr>
            <a:r>
              <a:rPr lang="en-US" sz="1999" b="true">
                <a:solidFill>
                  <a:srgbClr val="8F5B69"/>
                </a:solidFill>
                <a:latin typeface="Source Sans Pro Bold"/>
                <a:ea typeface="Source Sans Pro Bold"/>
                <a:cs typeface="Source Sans Pro Bold"/>
                <a:sym typeface="Source Sans Pro Bold"/>
              </a:rPr>
              <a:t>Description About Hotel</a:t>
            </a:r>
          </a:p>
        </p:txBody>
      </p:sp>
      <p:sp>
        <p:nvSpPr>
          <p:cNvPr name="TextBox 17" id="17"/>
          <p:cNvSpPr txBox="true"/>
          <p:nvPr/>
        </p:nvSpPr>
        <p:spPr>
          <a:xfrm rot="0">
            <a:off x="3337371" y="7454655"/>
            <a:ext cx="1695513" cy="618254"/>
          </a:xfrm>
          <a:prstGeom prst="rect">
            <a:avLst/>
          </a:prstGeom>
        </p:spPr>
        <p:txBody>
          <a:bodyPr anchor="t" rtlCol="false" tIns="0" lIns="0" bIns="0" rIns="0">
            <a:spAutoFit/>
          </a:bodyPr>
          <a:lstStyle/>
          <a:p>
            <a:pPr algn="l">
              <a:lnSpc>
                <a:spcPts val="5031"/>
              </a:lnSpc>
              <a:spcBef>
                <a:spcPct val="0"/>
              </a:spcBef>
            </a:pPr>
            <a:r>
              <a:rPr lang="en-US" sz="3593" b="true">
                <a:solidFill>
                  <a:srgbClr val="F4F2F1"/>
                </a:solidFill>
                <a:latin typeface="Source Sans Pro Bold"/>
                <a:ea typeface="Source Sans Pro Bold"/>
                <a:cs typeface="Source Sans Pro Bold"/>
                <a:sym typeface="Source Sans Pro Bold"/>
              </a:rPr>
              <a:t>1000+ </a:t>
            </a:r>
          </a:p>
        </p:txBody>
      </p:sp>
      <p:sp>
        <p:nvSpPr>
          <p:cNvPr name="TextBox 18" id="18"/>
          <p:cNvSpPr txBox="true"/>
          <p:nvPr/>
        </p:nvSpPr>
        <p:spPr>
          <a:xfrm rot="0">
            <a:off x="5137985" y="7517880"/>
            <a:ext cx="1042182" cy="577215"/>
          </a:xfrm>
          <a:prstGeom prst="rect">
            <a:avLst/>
          </a:prstGeom>
        </p:spPr>
        <p:txBody>
          <a:bodyPr anchor="t" rtlCol="false" tIns="0" lIns="0" bIns="0" rIns="0">
            <a:spAutoFit/>
          </a:bodyPr>
          <a:lstStyle/>
          <a:p>
            <a:pPr algn="l">
              <a:lnSpc>
                <a:spcPts val="2279"/>
              </a:lnSpc>
            </a:pPr>
            <a:r>
              <a:rPr lang="en-US" sz="1999">
                <a:solidFill>
                  <a:srgbClr val="F4F2F1"/>
                </a:solidFill>
                <a:latin typeface="Source Sans Pro"/>
                <a:ea typeface="Source Sans Pro"/>
                <a:cs typeface="Source Sans Pro"/>
                <a:sym typeface="Source Sans Pro"/>
              </a:rPr>
              <a:t>Hotel Visitors</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grpSp>
        <p:nvGrpSpPr>
          <p:cNvPr name="Group 2" id="2"/>
          <p:cNvGrpSpPr/>
          <p:nvPr/>
        </p:nvGrpSpPr>
        <p:grpSpPr>
          <a:xfrm rot="0">
            <a:off x="14136718" y="0"/>
            <a:ext cx="4151282" cy="5143500"/>
            <a:chOff x="0" y="0"/>
            <a:chExt cx="1093342" cy="1354667"/>
          </a:xfrm>
        </p:grpSpPr>
        <p:sp>
          <p:nvSpPr>
            <p:cNvPr name="Freeform 3" id="3"/>
            <p:cNvSpPr/>
            <p:nvPr/>
          </p:nvSpPr>
          <p:spPr>
            <a:xfrm flipH="false" flipV="false" rot="0">
              <a:off x="0" y="0"/>
              <a:ext cx="1093342" cy="1354667"/>
            </a:xfrm>
            <a:custGeom>
              <a:avLst/>
              <a:gdLst/>
              <a:ahLst/>
              <a:cxnLst/>
              <a:rect r="r" b="b" t="t" l="l"/>
              <a:pathLst>
                <a:path h="1354667" w="1093342">
                  <a:moveTo>
                    <a:pt x="0" y="0"/>
                  </a:moveTo>
                  <a:lnTo>
                    <a:pt x="1093342" y="0"/>
                  </a:lnTo>
                  <a:lnTo>
                    <a:pt x="1093342" y="1354667"/>
                  </a:lnTo>
                  <a:lnTo>
                    <a:pt x="0" y="1354667"/>
                  </a:lnTo>
                  <a:close/>
                </a:path>
              </a:pathLst>
            </a:custGeom>
            <a:solidFill>
              <a:srgbClr val="4F3139"/>
            </a:solidFill>
          </p:spPr>
        </p:sp>
        <p:sp>
          <p:nvSpPr>
            <p:cNvPr name="TextBox 4" id="4"/>
            <p:cNvSpPr txBox="true"/>
            <p:nvPr/>
          </p:nvSpPr>
          <p:spPr>
            <a:xfrm>
              <a:off x="0" y="-38100"/>
              <a:ext cx="1093342" cy="139276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1607613" y="1622950"/>
            <a:ext cx="5058211" cy="7041100"/>
            <a:chOff x="0" y="0"/>
            <a:chExt cx="6744282" cy="9388133"/>
          </a:xfrm>
        </p:grpSpPr>
        <p:pic>
          <p:nvPicPr>
            <p:cNvPr name="Picture 6" id="6"/>
            <p:cNvPicPr>
              <a:picLocks noChangeAspect="true"/>
            </p:cNvPicPr>
            <p:nvPr/>
          </p:nvPicPr>
          <p:blipFill>
            <a:blip r:embed="rId2"/>
            <a:srcRect l="857" t="0" r="48810" b="0"/>
            <a:stretch>
              <a:fillRect/>
            </a:stretch>
          </p:blipFill>
          <p:spPr>
            <a:xfrm flipH="false" flipV="false">
              <a:off x="0" y="0"/>
              <a:ext cx="6744282" cy="9388133"/>
            </a:xfrm>
            <a:prstGeom prst="rect">
              <a:avLst/>
            </a:prstGeom>
          </p:spPr>
        </p:pic>
      </p:grpSp>
      <p:grpSp>
        <p:nvGrpSpPr>
          <p:cNvPr name="Group 7" id="7"/>
          <p:cNvGrpSpPr/>
          <p:nvPr/>
        </p:nvGrpSpPr>
        <p:grpSpPr>
          <a:xfrm rot="0">
            <a:off x="2027531" y="1065508"/>
            <a:ext cx="1245141" cy="47625"/>
            <a:chOff x="0" y="0"/>
            <a:chExt cx="327938" cy="12543"/>
          </a:xfrm>
        </p:grpSpPr>
        <p:sp>
          <p:nvSpPr>
            <p:cNvPr name="Freeform 8" id="8"/>
            <p:cNvSpPr/>
            <p:nvPr/>
          </p:nvSpPr>
          <p:spPr>
            <a:xfrm flipH="false" flipV="false" rot="0">
              <a:off x="0" y="0"/>
              <a:ext cx="327938" cy="12543"/>
            </a:xfrm>
            <a:custGeom>
              <a:avLst/>
              <a:gdLst/>
              <a:ahLst/>
              <a:cxnLst/>
              <a:rect r="r" b="b" t="t" l="l"/>
              <a:pathLst>
                <a:path h="12543" w="327938">
                  <a:moveTo>
                    <a:pt x="0" y="0"/>
                  </a:moveTo>
                  <a:lnTo>
                    <a:pt x="327938" y="0"/>
                  </a:lnTo>
                  <a:lnTo>
                    <a:pt x="327938" y="12543"/>
                  </a:lnTo>
                  <a:lnTo>
                    <a:pt x="0" y="12543"/>
                  </a:lnTo>
                  <a:close/>
                </a:path>
              </a:pathLst>
            </a:custGeom>
            <a:solidFill>
              <a:srgbClr val="8F5B69"/>
            </a:solidFill>
          </p:spPr>
        </p:sp>
        <p:sp>
          <p:nvSpPr>
            <p:cNvPr name="TextBox 9" id="9"/>
            <p:cNvSpPr txBox="true"/>
            <p:nvPr/>
          </p:nvSpPr>
          <p:spPr>
            <a:xfrm>
              <a:off x="0" y="-38100"/>
              <a:ext cx="327938" cy="50643"/>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3389578" y="1065508"/>
            <a:ext cx="325026" cy="47625"/>
            <a:chOff x="0" y="0"/>
            <a:chExt cx="85604" cy="12543"/>
          </a:xfrm>
        </p:grpSpPr>
        <p:sp>
          <p:nvSpPr>
            <p:cNvPr name="Freeform 11" id="11"/>
            <p:cNvSpPr/>
            <p:nvPr/>
          </p:nvSpPr>
          <p:spPr>
            <a:xfrm flipH="false" flipV="false" rot="0">
              <a:off x="0" y="0"/>
              <a:ext cx="85604" cy="12543"/>
            </a:xfrm>
            <a:custGeom>
              <a:avLst/>
              <a:gdLst/>
              <a:ahLst/>
              <a:cxnLst/>
              <a:rect r="r" b="b" t="t" l="l"/>
              <a:pathLst>
                <a:path h="12543" w="85604">
                  <a:moveTo>
                    <a:pt x="0" y="0"/>
                  </a:moveTo>
                  <a:lnTo>
                    <a:pt x="85604" y="0"/>
                  </a:lnTo>
                  <a:lnTo>
                    <a:pt x="85604" y="12543"/>
                  </a:lnTo>
                  <a:lnTo>
                    <a:pt x="0" y="12543"/>
                  </a:lnTo>
                  <a:close/>
                </a:path>
              </a:pathLst>
            </a:custGeom>
            <a:solidFill>
              <a:srgbClr val="8F5B69"/>
            </a:solidFill>
          </p:spPr>
        </p:sp>
        <p:sp>
          <p:nvSpPr>
            <p:cNvPr name="TextBox 12" id="12"/>
            <p:cNvSpPr txBox="true"/>
            <p:nvPr/>
          </p:nvSpPr>
          <p:spPr>
            <a:xfrm>
              <a:off x="0" y="-38100"/>
              <a:ext cx="85604" cy="50643"/>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2027531" y="1323928"/>
            <a:ext cx="8721692" cy="1874628"/>
          </a:xfrm>
          <a:prstGeom prst="rect">
            <a:avLst/>
          </a:prstGeom>
        </p:spPr>
        <p:txBody>
          <a:bodyPr anchor="t" rtlCol="false" tIns="0" lIns="0" bIns="0" rIns="0">
            <a:spAutoFit/>
          </a:bodyPr>
          <a:lstStyle/>
          <a:p>
            <a:pPr algn="l">
              <a:lnSpc>
                <a:spcPts val="7440"/>
              </a:lnSpc>
            </a:pPr>
            <a:r>
              <a:rPr lang="en-US" sz="6000" b="true">
                <a:solidFill>
                  <a:srgbClr val="000000"/>
                </a:solidFill>
                <a:latin typeface="CMU Serif"/>
                <a:ea typeface="CMU Serif"/>
                <a:cs typeface="CMU Serif"/>
                <a:sym typeface="CMU Serif"/>
              </a:rPr>
              <a:t>Project Background / </a:t>
            </a:r>
          </a:p>
          <a:p>
            <a:pPr algn="l">
              <a:lnSpc>
                <a:spcPts val="7440"/>
              </a:lnSpc>
            </a:pPr>
            <a:r>
              <a:rPr lang="en-US" sz="6000" b="true">
                <a:solidFill>
                  <a:srgbClr val="000000"/>
                </a:solidFill>
                <a:latin typeface="CMU Serif"/>
                <a:ea typeface="CMU Serif"/>
                <a:cs typeface="CMU Serif"/>
                <a:sym typeface="CMU Serif"/>
              </a:rPr>
              <a:t>Problem Statement</a:t>
            </a:r>
          </a:p>
        </p:txBody>
      </p:sp>
      <p:sp>
        <p:nvSpPr>
          <p:cNvPr name="TextBox 14" id="14"/>
          <p:cNvSpPr txBox="true"/>
          <p:nvPr/>
        </p:nvSpPr>
        <p:spPr>
          <a:xfrm rot="0">
            <a:off x="1573165" y="3593314"/>
            <a:ext cx="8721692" cy="5407930"/>
          </a:xfrm>
          <a:prstGeom prst="rect">
            <a:avLst/>
          </a:prstGeom>
        </p:spPr>
        <p:txBody>
          <a:bodyPr anchor="t" rtlCol="false" tIns="0" lIns="0" bIns="0" rIns="0">
            <a:spAutoFit/>
          </a:bodyPr>
          <a:lstStyle/>
          <a:p>
            <a:pPr algn="just">
              <a:lnSpc>
                <a:spcPts val="4339"/>
              </a:lnSpc>
            </a:pPr>
            <a:r>
              <a:rPr lang="en-US" sz="3099">
                <a:solidFill>
                  <a:srgbClr val="201E1E"/>
                </a:solidFill>
                <a:latin typeface="Source Sans Pro"/>
                <a:ea typeface="Source Sans Pro"/>
                <a:cs typeface="Source Sans Pro"/>
                <a:sym typeface="Source Sans Pro"/>
              </a:rPr>
              <a:t>Many small hotels still rely on paper logbooks, which are slow and prone to errors like double bookings. Manual tracking also makes it difficult to monitor check ins, check outs, room upgrades, or extended stays, and finding specific records takes too long.</a:t>
            </a:r>
          </a:p>
          <a:p>
            <a:pPr algn="just">
              <a:lnSpc>
                <a:spcPts val="4339"/>
              </a:lnSpc>
            </a:pPr>
          </a:p>
          <a:p>
            <a:pPr algn="just">
              <a:lnSpc>
                <a:spcPts val="4339"/>
              </a:lnSpc>
            </a:pPr>
            <a:r>
              <a:rPr lang="en-US" sz="3099">
                <a:solidFill>
                  <a:srgbClr val="201E1E"/>
                </a:solidFill>
                <a:latin typeface="Source Sans Pro"/>
                <a:ea typeface="Source Sans Pro"/>
                <a:cs typeface="Source Sans Pro"/>
                <a:sym typeface="Source Sans Pro"/>
              </a:rPr>
              <a:t>Our system solves this by automating the process. It provides instant record filtering, error checking, and real time room status updates.</a:t>
            </a:r>
          </a:p>
          <a:p>
            <a:pPr algn="just">
              <a:lnSpc>
                <a:spcPts val="4339"/>
              </a:lnSpc>
              <a:spcBef>
                <a:spcPct val="0"/>
              </a:spcBef>
            </a:pP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grpSp>
        <p:nvGrpSpPr>
          <p:cNvPr name="Group 2" id="2"/>
          <p:cNvGrpSpPr/>
          <p:nvPr/>
        </p:nvGrpSpPr>
        <p:grpSpPr>
          <a:xfrm rot="0">
            <a:off x="0" y="0"/>
            <a:ext cx="6357372" cy="4033514"/>
            <a:chOff x="0" y="0"/>
            <a:chExt cx="1674369" cy="1062325"/>
          </a:xfrm>
        </p:grpSpPr>
        <p:sp>
          <p:nvSpPr>
            <p:cNvPr name="Freeform 3" id="3"/>
            <p:cNvSpPr/>
            <p:nvPr/>
          </p:nvSpPr>
          <p:spPr>
            <a:xfrm flipH="false" flipV="false" rot="0">
              <a:off x="0" y="0"/>
              <a:ext cx="1674370" cy="1062325"/>
            </a:xfrm>
            <a:custGeom>
              <a:avLst/>
              <a:gdLst/>
              <a:ahLst/>
              <a:cxnLst/>
              <a:rect r="r" b="b" t="t" l="l"/>
              <a:pathLst>
                <a:path h="1062325" w="1674370">
                  <a:moveTo>
                    <a:pt x="0" y="0"/>
                  </a:moveTo>
                  <a:lnTo>
                    <a:pt x="1674370" y="0"/>
                  </a:lnTo>
                  <a:lnTo>
                    <a:pt x="1674370" y="1062325"/>
                  </a:lnTo>
                  <a:lnTo>
                    <a:pt x="0" y="1062325"/>
                  </a:lnTo>
                  <a:close/>
                </a:path>
              </a:pathLst>
            </a:custGeom>
            <a:solidFill>
              <a:srgbClr val="4F3139"/>
            </a:solidFill>
          </p:spPr>
        </p:sp>
        <p:sp>
          <p:nvSpPr>
            <p:cNvPr name="TextBox 4" id="4"/>
            <p:cNvSpPr txBox="true"/>
            <p:nvPr/>
          </p:nvSpPr>
          <p:spPr>
            <a:xfrm>
              <a:off x="0" y="-38100"/>
              <a:ext cx="1674369" cy="1100425"/>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410883"/>
            <a:ext cx="1617152" cy="197971"/>
          </a:xfrm>
          <a:prstGeom prst="rect">
            <a:avLst/>
          </a:prstGeom>
        </p:spPr>
        <p:txBody>
          <a:bodyPr anchor="t" rtlCol="false" tIns="0" lIns="0" bIns="0" rIns="0">
            <a:spAutoFit/>
          </a:bodyPr>
          <a:lstStyle/>
          <a:p>
            <a:pPr algn="l">
              <a:lnSpc>
                <a:spcPts val="1680"/>
              </a:lnSpc>
              <a:spcBef>
                <a:spcPct val="0"/>
              </a:spcBef>
            </a:pPr>
            <a:r>
              <a:rPr lang="en-US" sz="1200">
                <a:solidFill>
                  <a:srgbClr val="F4F2F1"/>
                </a:solidFill>
                <a:latin typeface="Source Sans Pro"/>
                <a:ea typeface="Source Sans Pro"/>
                <a:cs typeface="Source Sans Pro"/>
                <a:sym typeface="Source Sans Pro"/>
              </a:rPr>
              <a:t>Warner &amp; Spencer</a:t>
            </a:r>
          </a:p>
        </p:txBody>
      </p:sp>
      <p:sp>
        <p:nvSpPr>
          <p:cNvPr name="Freeform 6" id="6"/>
          <p:cNvSpPr/>
          <p:nvPr/>
        </p:nvSpPr>
        <p:spPr>
          <a:xfrm flipH="false" flipV="false" rot="0">
            <a:off x="644250" y="388044"/>
            <a:ext cx="262699" cy="262699"/>
          </a:xfrm>
          <a:custGeom>
            <a:avLst/>
            <a:gdLst/>
            <a:ahLst/>
            <a:cxnLst/>
            <a:rect r="r" b="b" t="t" l="l"/>
            <a:pathLst>
              <a:path h="262699" w="262699">
                <a:moveTo>
                  <a:pt x="0" y="0"/>
                </a:moveTo>
                <a:lnTo>
                  <a:pt x="262698" y="0"/>
                </a:lnTo>
                <a:lnTo>
                  <a:pt x="262698" y="262699"/>
                </a:lnTo>
                <a:lnTo>
                  <a:pt x="0" y="262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799176" y="1771317"/>
            <a:ext cx="6705007" cy="4324643"/>
            <a:chOff x="0" y="0"/>
            <a:chExt cx="8940010" cy="5766191"/>
          </a:xfrm>
        </p:grpSpPr>
        <p:pic>
          <p:nvPicPr>
            <p:cNvPr name="Picture 8" id="8"/>
            <p:cNvPicPr>
              <a:picLocks noChangeAspect="true"/>
            </p:cNvPicPr>
            <p:nvPr/>
          </p:nvPicPr>
          <p:blipFill>
            <a:blip r:embed="rId4"/>
            <a:srcRect l="10917" t="14674" r="888" b="0"/>
            <a:stretch>
              <a:fillRect/>
            </a:stretch>
          </p:blipFill>
          <p:spPr>
            <a:xfrm flipH="false" flipV="false">
              <a:off x="0" y="0"/>
              <a:ext cx="8940010" cy="5766191"/>
            </a:xfrm>
            <a:prstGeom prst="rect">
              <a:avLst/>
            </a:prstGeom>
          </p:spPr>
        </p:pic>
      </p:grpSp>
      <p:grpSp>
        <p:nvGrpSpPr>
          <p:cNvPr name="Group 9" id="9"/>
          <p:cNvGrpSpPr/>
          <p:nvPr/>
        </p:nvGrpSpPr>
        <p:grpSpPr>
          <a:xfrm rot="0">
            <a:off x="1837276" y="6966219"/>
            <a:ext cx="1245141" cy="47625"/>
            <a:chOff x="0" y="0"/>
            <a:chExt cx="327938" cy="12543"/>
          </a:xfrm>
        </p:grpSpPr>
        <p:sp>
          <p:nvSpPr>
            <p:cNvPr name="Freeform 10" id="10"/>
            <p:cNvSpPr/>
            <p:nvPr/>
          </p:nvSpPr>
          <p:spPr>
            <a:xfrm flipH="false" flipV="false" rot="0">
              <a:off x="0" y="0"/>
              <a:ext cx="327938" cy="12543"/>
            </a:xfrm>
            <a:custGeom>
              <a:avLst/>
              <a:gdLst/>
              <a:ahLst/>
              <a:cxnLst/>
              <a:rect r="r" b="b" t="t" l="l"/>
              <a:pathLst>
                <a:path h="12543" w="327938">
                  <a:moveTo>
                    <a:pt x="0" y="0"/>
                  </a:moveTo>
                  <a:lnTo>
                    <a:pt x="327938" y="0"/>
                  </a:lnTo>
                  <a:lnTo>
                    <a:pt x="327938" y="12543"/>
                  </a:lnTo>
                  <a:lnTo>
                    <a:pt x="0" y="12543"/>
                  </a:lnTo>
                  <a:close/>
                </a:path>
              </a:pathLst>
            </a:custGeom>
            <a:solidFill>
              <a:srgbClr val="8F5B69"/>
            </a:solidFill>
          </p:spPr>
        </p:sp>
        <p:sp>
          <p:nvSpPr>
            <p:cNvPr name="TextBox 11" id="11"/>
            <p:cNvSpPr txBox="true"/>
            <p:nvPr/>
          </p:nvSpPr>
          <p:spPr>
            <a:xfrm>
              <a:off x="0" y="-38100"/>
              <a:ext cx="327938" cy="5064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3199322" y="6966219"/>
            <a:ext cx="325026" cy="47625"/>
            <a:chOff x="0" y="0"/>
            <a:chExt cx="85604" cy="12543"/>
          </a:xfrm>
        </p:grpSpPr>
        <p:sp>
          <p:nvSpPr>
            <p:cNvPr name="Freeform 13" id="13"/>
            <p:cNvSpPr/>
            <p:nvPr/>
          </p:nvSpPr>
          <p:spPr>
            <a:xfrm flipH="false" flipV="false" rot="0">
              <a:off x="0" y="0"/>
              <a:ext cx="85604" cy="12543"/>
            </a:xfrm>
            <a:custGeom>
              <a:avLst/>
              <a:gdLst/>
              <a:ahLst/>
              <a:cxnLst/>
              <a:rect r="r" b="b" t="t" l="l"/>
              <a:pathLst>
                <a:path h="12543" w="85604">
                  <a:moveTo>
                    <a:pt x="0" y="0"/>
                  </a:moveTo>
                  <a:lnTo>
                    <a:pt x="85604" y="0"/>
                  </a:lnTo>
                  <a:lnTo>
                    <a:pt x="85604" y="12543"/>
                  </a:lnTo>
                  <a:lnTo>
                    <a:pt x="0" y="12543"/>
                  </a:lnTo>
                  <a:close/>
                </a:path>
              </a:pathLst>
            </a:custGeom>
            <a:solidFill>
              <a:srgbClr val="8F5B69"/>
            </a:solidFill>
          </p:spPr>
        </p:sp>
        <p:sp>
          <p:nvSpPr>
            <p:cNvPr name="TextBox 14" id="14"/>
            <p:cNvSpPr txBox="true"/>
            <p:nvPr/>
          </p:nvSpPr>
          <p:spPr>
            <a:xfrm>
              <a:off x="0" y="-38100"/>
              <a:ext cx="85604" cy="50643"/>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837276" y="7224639"/>
            <a:ext cx="6666907" cy="931599"/>
          </a:xfrm>
          <a:prstGeom prst="rect">
            <a:avLst/>
          </a:prstGeom>
        </p:spPr>
        <p:txBody>
          <a:bodyPr anchor="t" rtlCol="false" tIns="0" lIns="0" bIns="0" rIns="0">
            <a:spAutoFit/>
          </a:bodyPr>
          <a:lstStyle/>
          <a:p>
            <a:pPr algn="l">
              <a:lnSpc>
                <a:spcPts val="7440"/>
              </a:lnSpc>
            </a:pPr>
            <a:r>
              <a:rPr lang="en-US" sz="6000" b="true">
                <a:solidFill>
                  <a:srgbClr val="000000"/>
                </a:solidFill>
                <a:latin typeface="CMU Serif"/>
                <a:ea typeface="CMU Serif"/>
                <a:cs typeface="CMU Serif"/>
                <a:sym typeface="CMU Serif"/>
              </a:rPr>
              <a:t>Target Users</a:t>
            </a:r>
          </a:p>
        </p:txBody>
      </p:sp>
      <p:sp>
        <p:nvSpPr>
          <p:cNvPr name="TextBox 16" id="16"/>
          <p:cNvSpPr txBox="true"/>
          <p:nvPr/>
        </p:nvSpPr>
        <p:spPr>
          <a:xfrm rot="0">
            <a:off x="9779664" y="2799592"/>
            <a:ext cx="6440023" cy="2066925"/>
          </a:xfrm>
          <a:prstGeom prst="rect">
            <a:avLst/>
          </a:prstGeom>
        </p:spPr>
        <p:txBody>
          <a:bodyPr anchor="t" rtlCol="false" tIns="0" lIns="0" bIns="0" rIns="0">
            <a:spAutoFit/>
          </a:bodyPr>
          <a:lstStyle/>
          <a:p>
            <a:pPr algn="just">
              <a:lnSpc>
                <a:spcPts val="4199"/>
              </a:lnSpc>
            </a:pPr>
            <a:r>
              <a:rPr lang="en-US" sz="2999">
                <a:solidFill>
                  <a:srgbClr val="201E1E"/>
                </a:solidFill>
                <a:latin typeface="Source Sans Pro"/>
                <a:ea typeface="Source Sans Pro"/>
                <a:cs typeface="Source Sans Pro"/>
                <a:sym typeface="Source Sans Pro"/>
              </a:rPr>
              <a:t>The person in charge can access the whole system by logging in with a username and password, so everything stays secure.</a:t>
            </a:r>
          </a:p>
        </p:txBody>
      </p:sp>
      <p:sp>
        <p:nvSpPr>
          <p:cNvPr name="TextBox 17" id="17"/>
          <p:cNvSpPr txBox="true"/>
          <p:nvPr/>
        </p:nvSpPr>
        <p:spPr>
          <a:xfrm rot="0">
            <a:off x="9779664" y="2207257"/>
            <a:ext cx="2828388" cy="422221"/>
          </a:xfrm>
          <a:prstGeom prst="rect">
            <a:avLst/>
          </a:prstGeom>
        </p:spPr>
        <p:txBody>
          <a:bodyPr anchor="t" rtlCol="false" tIns="0" lIns="0" bIns="0" rIns="0">
            <a:spAutoFit/>
          </a:bodyPr>
          <a:lstStyle/>
          <a:p>
            <a:pPr algn="l">
              <a:lnSpc>
                <a:spcPts val="3499"/>
              </a:lnSpc>
              <a:spcBef>
                <a:spcPct val="0"/>
              </a:spcBef>
            </a:pPr>
            <a:r>
              <a:rPr lang="en-US" sz="2499" b="true">
                <a:solidFill>
                  <a:srgbClr val="8F5B69"/>
                </a:solidFill>
                <a:latin typeface="Source Sans Pro Bold"/>
                <a:ea typeface="Source Sans Pro Bold"/>
                <a:cs typeface="Source Sans Pro Bold"/>
                <a:sym typeface="Source Sans Pro Bold"/>
              </a:rPr>
              <a:t>Administrator</a:t>
            </a:r>
          </a:p>
        </p:txBody>
      </p:sp>
      <p:sp>
        <p:nvSpPr>
          <p:cNvPr name="TextBox 18" id="18"/>
          <p:cNvSpPr txBox="true"/>
          <p:nvPr/>
        </p:nvSpPr>
        <p:spPr>
          <a:xfrm rot="0">
            <a:off x="9779664" y="5778945"/>
            <a:ext cx="6695604" cy="3181025"/>
          </a:xfrm>
          <a:prstGeom prst="rect">
            <a:avLst/>
          </a:prstGeom>
        </p:spPr>
        <p:txBody>
          <a:bodyPr anchor="t" rtlCol="false" tIns="0" lIns="0" bIns="0" rIns="0">
            <a:spAutoFit/>
          </a:bodyPr>
          <a:lstStyle/>
          <a:p>
            <a:pPr algn="just">
              <a:lnSpc>
                <a:spcPts val="4200"/>
              </a:lnSpc>
              <a:spcBef>
                <a:spcPct val="0"/>
              </a:spcBef>
            </a:pPr>
            <a:r>
              <a:rPr lang="en-US" sz="3000">
                <a:solidFill>
                  <a:srgbClr val="201E1E"/>
                </a:solidFill>
                <a:latin typeface="Source Sans Pro"/>
                <a:ea typeface="Source Sans Pro"/>
                <a:cs typeface="Source Sans Pro"/>
                <a:sym typeface="Source Sans Pro"/>
              </a:rPr>
              <a:t>Staff can search for customers, register new guests, and book rooms. The system handles discounts, check-ins, check-outs, room upgrades, and extended stays. Staff can also filter booking records and view room availability.</a:t>
            </a:r>
          </a:p>
        </p:txBody>
      </p:sp>
      <p:sp>
        <p:nvSpPr>
          <p:cNvPr name="TextBox 19" id="19"/>
          <p:cNvSpPr txBox="true"/>
          <p:nvPr/>
        </p:nvSpPr>
        <p:spPr>
          <a:xfrm rot="0">
            <a:off x="9779664" y="5156699"/>
            <a:ext cx="4093849" cy="431746"/>
          </a:xfrm>
          <a:prstGeom prst="rect">
            <a:avLst/>
          </a:prstGeom>
        </p:spPr>
        <p:txBody>
          <a:bodyPr anchor="t" rtlCol="false" tIns="0" lIns="0" bIns="0" rIns="0">
            <a:spAutoFit/>
          </a:bodyPr>
          <a:lstStyle/>
          <a:p>
            <a:pPr algn="l">
              <a:lnSpc>
                <a:spcPts val="3500"/>
              </a:lnSpc>
              <a:spcBef>
                <a:spcPct val="0"/>
              </a:spcBef>
            </a:pPr>
            <a:r>
              <a:rPr lang="en-US" sz="2500" b="true">
                <a:solidFill>
                  <a:srgbClr val="8F5B69"/>
                </a:solidFill>
                <a:latin typeface="Source Sans Pro Bold"/>
                <a:ea typeface="Source Sans Pro Bold"/>
                <a:cs typeface="Source Sans Pro Bold"/>
                <a:sym typeface="Source Sans Pro Bold"/>
              </a:rPr>
              <a:t>Hotel Receptionist / Staff</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grpSp>
        <p:nvGrpSpPr>
          <p:cNvPr name="Group 2" id="2"/>
          <p:cNvGrpSpPr/>
          <p:nvPr/>
        </p:nvGrpSpPr>
        <p:grpSpPr>
          <a:xfrm rot="0">
            <a:off x="12454503" y="0"/>
            <a:ext cx="5833497" cy="10287000"/>
            <a:chOff x="0" y="0"/>
            <a:chExt cx="1536394" cy="2709333"/>
          </a:xfrm>
        </p:grpSpPr>
        <p:sp>
          <p:nvSpPr>
            <p:cNvPr name="Freeform 3" id="3"/>
            <p:cNvSpPr/>
            <p:nvPr/>
          </p:nvSpPr>
          <p:spPr>
            <a:xfrm flipH="false" flipV="false" rot="0">
              <a:off x="0" y="0"/>
              <a:ext cx="1536394" cy="2709333"/>
            </a:xfrm>
            <a:custGeom>
              <a:avLst/>
              <a:gdLst/>
              <a:ahLst/>
              <a:cxnLst/>
              <a:rect r="r" b="b" t="t" l="l"/>
              <a:pathLst>
                <a:path h="2709333" w="1536394">
                  <a:moveTo>
                    <a:pt x="0" y="0"/>
                  </a:moveTo>
                  <a:lnTo>
                    <a:pt x="1536394" y="0"/>
                  </a:lnTo>
                  <a:lnTo>
                    <a:pt x="1536394" y="2709333"/>
                  </a:lnTo>
                  <a:lnTo>
                    <a:pt x="0" y="2709333"/>
                  </a:lnTo>
                  <a:close/>
                </a:path>
              </a:pathLst>
            </a:custGeom>
            <a:solidFill>
              <a:srgbClr val="4F3139"/>
            </a:solidFill>
          </p:spPr>
        </p:sp>
        <p:sp>
          <p:nvSpPr>
            <p:cNvPr name="TextBox 4" id="4"/>
            <p:cNvSpPr txBox="true"/>
            <p:nvPr/>
          </p:nvSpPr>
          <p:spPr>
            <a:xfrm>
              <a:off x="0" y="-38100"/>
              <a:ext cx="1536394"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592609" y="0"/>
            <a:ext cx="3695391" cy="8140309"/>
            <a:chOff x="0" y="0"/>
            <a:chExt cx="4927188" cy="10853746"/>
          </a:xfrm>
        </p:grpSpPr>
        <p:pic>
          <p:nvPicPr>
            <p:cNvPr name="Picture 6" id="6"/>
            <p:cNvPicPr>
              <a:picLocks noChangeAspect="true"/>
            </p:cNvPicPr>
            <p:nvPr/>
          </p:nvPicPr>
          <p:blipFill>
            <a:blip r:embed="rId2"/>
            <a:srcRect l="62043" t="0" r="7711" b="0"/>
            <a:stretch>
              <a:fillRect/>
            </a:stretch>
          </p:blipFill>
          <p:spPr>
            <a:xfrm flipH="false" flipV="false">
              <a:off x="0" y="0"/>
              <a:ext cx="4927188" cy="10853746"/>
            </a:xfrm>
            <a:prstGeom prst="rect">
              <a:avLst/>
            </a:prstGeom>
          </p:spPr>
        </p:pic>
      </p:grpSp>
      <p:grpSp>
        <p:nvGrpSpPr>
          <p:cNvPr name="Group 7" id="7"/>
          <p:cNvGrpSpPr/>
          <p:nvPr/>
        </p:nvGrpSpPr>
        <p:grpSpPr>
          <a:xfrm rot="0">
            <a:off x="10606808" y="2146691"/>
            <a:ext cx="3695391" cy="8140309"/>
            <a:chOff x="0" y="0"/>
            <a:chExt cx="4927188" cy="10853746"/>
          </a:xfrm>
        </p:grpSpPr>
        <p:pic>
          <p:nvPicPr>
            <p:cNvPr name="Picture 8" id="8"/>
            <p:cNvPicPr>
              <a:picLocks noChangeAspect="true"/>
            </p:cNvPicPr>
            <p:nvPr/>
          </p:nvPicPr>
          <p:blipFill>
            <a:blip r:embed="rId3"/>
            <a:srcRect l="69735" t="0" r="0" b="0"/>
            <a:stretch>
              <a:fillRect/>
            </a:stretch>
          </p:blipFill>
          <p:spPr>
            <a:xfrm flipH="false" flipV="false">
              <a:off x="0" y="0"/>
              <a:ext cx="4927188" cy="10853746"/>
            </a:xfrm>
            <a:prstGeom prst="rect">
              <a:avLst/>
            </a:prstGeom>
          </p:spPr>
        </p:pic>
      </p:grpSp>
      <p:grpSp>
        <p:nvGrpSpPr>
          <p:cNvPr name="Group 9" id="9"/>
          <p:cNvGrpSpPr/>
          <p:nvPr/>
        </p:nvGrpSpPr>
        <p:grpSpPr>
          <a:xfrm rot="0">
            <a:off x="5660399" y="232772"/>
            <a:ext cx="1245141" cy="47625"/>
            <a:chOff x="0" y="0"/>
            <a:chExt cx="327938" cy="12543"/>
          </a:xfrm>
        </p:grpSpPr>
        <p:sp>
          <p:nvSpPr>
            <p:cNvPr name="Freeform 10" id="10"/>
            <p:cNvSpPr/>
            <p:nvPr/>
          </p:nvSpPr>
          <p:spPr>
            <a:xfrm flipH="false" flipV="false" rot="0">
              <a:off x="0" y="0"/>
              <a:ext cx="327938" cy="12543"/>
            </a:xfrm>
            <a:custGeom>
              <a:avLst/>
              <a:gdLst/>
              <a:ahLst/>
              <a:cxnLst/>
              <a:rect r="r" b="b" t="t" l="l"/>
              <a:pathLst>
                <a:path h="12543" w="327938">
                  <a:moveTo>
                    <a:pt x="0" y="0"/>
                  </a:moveTo>
                  <a:lnTo>
                    <a:pt x="327938" y="0"/>
                  </a:lnTo>
                  <a:lnTo>
                    <a:pt x="327938" y="12543"/>
                  </a:lnTo>
                  <a:lnTo>
                    <a:pt x="0" y="12543"/>
                  </a:lnTo>
                  <a:close/>
                </a:path>
              </a:pathLst>
            </a:custGeom>
            <a:solidFill>
              <a:srgbClr val="8F5B69"/>
            </a:solidFill>
          </p:spPr>
        </p:sp>
        <p:sp>
          <p:nvSpPr>
            <p:cNvPr name="TextBox 11" id="11"/>
            <p:cNvSpPr txBox="true"/>
            <p:nvPr/>
          </p:nvSpPr>
          <p:spPr>
            <a:xfrm>
              <a:off x="0" y="-38100"/>
              <a:ext cx="327938" cy="5064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7022445" y="232772"/>
            <a:ext cx="325026" cy="47625"/>
            <a:chOff x="0" y="0"/>
            <a:chExt cx="85604" cy="12543"/>
          </a:xfrm>
        </p:grpSpPr>
        <p:sp>
          <p:nvSpPr>
            <p:cNvPr name="Freeform 13" id="13"/>
            <p:cNvSpPr/>
            <p:nvPr/>
          </p:nvSpPr>
          <p:spPr>
            <a:xfrm flipH="false" flipV="false" rot="0">
              <a:off x="0" y="0"/>
              <a:ext cx="85604" cy="12543"/>
            </a:xfrm>
            <a:custGeom>
              <a:avLst/>
              <a:gdLst/>
              <a:ahLst/>
              <a:cxnLst/>
              <a:rect r="r" b="b" t="t" l="l"/>
              <a:pathLst>
                <a:path h="12543" w="85604">
                  <a:moveTo>
                    <a:pt x="0" y="0"/>
                  </a:moveTo>
                  <a:lnTo>
                    <a:pt x="85604" y="0"/>
                  </a:lnTo>
                  <a:lnTo>
                    <a:pt x="85604" y="12543"/>
                  </a:lnTo>
                  <a:lnTo>
                    <a:pt x="0" y="12543"/>
                  </a:lnTo>
                  <a:close/>
                </a:path>
              </a:pathLst>
            </a:custGeom>
            <a:solidFill>
              <a:srgbClr val="8F5B69"/>
            </a:solidFill>
          </p:spPr>
        </p:sp>
        <p:sp>
          <p:nvSpPr>
            <p:cNvPr name="TextBox 14" id="14"/>
            <p:cNvSpPr txBox="true"/>
            <p:nvPr/>
          </p:nvSpPr>
          <p:spPr>
            <a:xfrm>
              <a:off x="0" y="-38100"/>
              <a:ext cx="85604" cy="50643"/>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4805620" y="272117"/>
            <a:ext cx="7120005" cy="931599"/>
          </a:xfrm>
          <a:prstGeom prst="rect">
            <a:avLst/>
          </a:prstGeom>
        </p:spPr>
        <p:txBody>
          <a:bodyPr anchor="t" rtlCol="false" tIns="0" lIns="0" bIns="0" rIns="0">
            <a:spAutoFit/>
          </a:bodyPr>
          <a:lstStyle/>
          <a:p>
            <a:pPr algn="l">
              <a:lnSpc>
                <a:spcPts val="7440"/>
              </a:lnSpc>
            </a:pPr>
            <a:r>
              <a:rPr lang="en-US" sz="6000" b="true">
                <a:solidFill>
                  <a:srgbClr val="000000"/>
                </a:solidFill>
                <a:latin typeface="CMU Serif"/>
                <a:ea typeface="CMU Serif"/>
                <a:cs typeface="CMU Serif"/>
                <a:sym typeface="CMU Serif"/>
              </a:rPr>
              <a:t>Objectives</a:t>
            </a:r>
          </a:p>
        </p:txBody>
      </p:sp>
      <p:sp>
        <p:nvSpPr>
          <p:cNvPr name="TextBox 16" id="16"/>
          <p:cNvSpPr txBox="true"/>
          <p:nvPr/>
        </p:nvSpPr>
        <p:spPr>
          <a:xfrm rot="0">
            <a:off x="1057098" y="1855442"/>
            <a:ext cx="8115300" cy="2460890"/>
          </a:xfrm>
          <a:prstGeom prst="rect">
            <a:avLst/>
          </a:prstGeom>
        </p:spPr>
        <p:txBody>
          <a:bodyPr anchor="t" rtlCol="false" tIns="0" lIns="0" bIns="0" rIns="0">
            <a:spAutoFit/>
          </a:bodyPr>
          <a:lstStyle/>
          <a:p>
            <a:pPr algn="just">
              <a:lnSpc>
                <a:spcPts val="3928"/>
              </a:lnSpc>
            </a:pPr>
            <a:r>
              <a:rPr lang="en-US" sz="2806">
                <a:solidFill>
                  <a:srgbClr val="201E1E"/>
                </a:solidFill>
                <a:latin typeface="Source Sans Pro"/>
                <a:ea typeface="Source Sans Pro"/>
                <a:cs typeface="Source Sans Pro"/>
                <a:sym typeface="Source Sans Pro"/>
              </a:rPr>
              <a:t>This project involves developing a Java desktop application that connects to a MySQL database. The application is designed to manage hotel room bookings and maintain guest information in an organized and accessible manner.</a:t>
            </a:r>
          </a:p>
        </p:txBody>
      </p:sp>
      <p:sp>
        <p:nvSpPr>
          <p:cNvPr name="TextBox 17" id="17"/>
          <p:cNvSpPr txBox="true"/>
          <p:nvPr/>
        </p:nvSpPr>
        <p:spPr>
          <a:xfrm rot="0">
            <a:off x="1057098" y="1146566"/>
            <a:ext cx="3127141" cy="497894"/>
          </a:xfrm>
          <a:prstGeom prst="rect">
            <a:avLst/>
          </a:prstGeom>
        </p:spPr>
        <p:txBody>
          <a:bodyPr anchor="t" rtlCol="false" tIns="0" lIns="0" bIns="0" rIns="0">
            <a:spAutoFit/>
          </a:bodyPr>
          <a:lstStyle/>
          <a:p>
            <a:pPr algn="l">
              <a:lnSpc>
                <a:spcPts val="4060"/>
              </a:lnSpc>
              <a:spcBef>
                <a:spcPct val="0"/>
              </a:spcBef>
            </a:pPr>
            <a:r>
              <a:rPr lang="en-US" sz="2900" b="true">
                <a:solidFill>
                  <a:srgbClr val="8F5B69"/>
                </a:solidFill>
                <a:latin typeface="Source Sans Pro Bold"/>
                <a:ea typeface="Source Sans Pro Bold"/>
                <a:cs typeface="Source Sans Pro Bold"/>
                <a:sym typeface="Source Sans Pro Bold"/>
              </a:rPr>
              <a:t>General Obejctive</a:t>
            </a:r>
          </a:p>
        </p:txBody>
      </p:sp>
      <p:sp>
        <p:nvSpPr>
          <p:cNvPr name="TextBox 18" id="18"/>
          <p:cNvSpPr txBox="true"/>
          <p:nvPr/>
        </p:nvSpPr>
        <p:spPr>
          <a:xfrm rot="0">
            <a:off x="800641" y="5212104"/>
            <a:ext cx="9338162" cy="4348744"/>
          </a:xfrm>
          <a:prstGeom prst="rect">
            <a:avLst/>
          </a:prstGeom>
        </p:spPr>
        <p:txBody>
          <a:bodyPr anchor="t" rtlCol="false" tIns="0" lIns="0" bIns="0" rIns="0">
            <a:spAutoFit/>
          </a:bodyPr>
          <a:lstStyle/>
          <a:p>
            <a:pPr algn="just" marL="598138" indent="-299069" lvl="1">
              <a:lnSpc>
                <a:spcPts val="3878"/>
              </a:lnSpc>
              <a:buAutoNum type="arabicPeriod" startAt="1"/>
            </a:pPr>
            <a:r>
              <a:rPr lang="en-US" sz="2770">
                <a:solidFill>
                  <a:srgbClr val="201E1E"/>
                </a:solidFill>
                <a:latin typeface="Source Sans Pro"/>
                <a:ea typeface="Source Sans Pro"/>
                <a:cs typeface="Source Sans Pro"/>
                <a:sym typeface="Source Sans Pro"/>
              </a:rPr>
              <a:t> Secure login for authorized staff only.</a:t>
            </a:r>
          </a:p>
          <a:p>
            <a:pPr algn="just" marL="598138" indent="-299069" lvl="1">
              <a:lnSpc>
                <a:spcPts val="3878"/>
              </a:lnSpc>
              <a:spcBef>
                <a:spcPct val="0"/>
              </a:spcBef>
              <a:buAutoNum type="arabicPeriod" startAt="1"/>
            </a:pPr>
            <a:r>
              <a:rPr lang="en-US" sz="2770">
                <a:solidFill>
                  <a:srgbClr val="201E1E"/>
                </a:solidFill>
                <a:latin typeface="Source Sans Pro"/>
                <a:ea typeface="Source Sans Pro"/>
                <a:cs typeface="Source Sans Pro"/>
                <a:sym typeface="Source Sans Pro"/>
              </a:rPr>
              <a:t> Booking module with customer search, auto-fill, date and guest selection, and automatic price calculation with discounts.</a:t>
            </a:r>
          </a:p>
          <a:p>
            <a:pPr algn="just" marL="598138" indent="-299069" lvl="1">
              <a:lnSpc>
                <a:spcPts val="3878"/>
              </a:lnSpc>
              <a:spcBef>
                <a:spcPct val="0"/>
              </a:spcBef>
              <a:buAutoNum type="arabicPeriod" startAt="1"/>
            </a:pPr>
            <a:r>
              <a:rPr lang="en-US" b="true" sz="2770">
                <a:solidFill>
                  <a:srgbClr val="201E1E"/>
                </a:solidFill>
                <a:latin typeface="Source Sans Pro Bold"/>
                <a:ea typeface="Source Sans Pro Bold"/>
                <a:cs typeface="Source Sans Pro Bold"/>
                <a:sym typeface="Source Sans Pro Bold"/>
              </a:rPr>
              <a:t> </a:t>
            </a:r>
            <a:r>
              <a:rPr lang="en-US" sz="2770">
                <a:solidFill>
                  <a:srgbClr val="201E1E"/>
                </a:solidFill>
                <a:latin typeface="Source Sans Pro"/>
                <a:ea typeface="Source Sans Pro"/>
                <a:cs typeface="Source Sans Pro"/>
                <a:sym typeface="Source Sans Pro"/>
              </a:rPr>
              <a:t>Room availability list with refresh, sorting occupied and reserved rooms to the top.</a:t>
            </a:r>
          </a:p>
          <a:p>
            <a:pPr algn="just" marL="598138" indent="-299069" lvl="1">
              <a:lnSpc>
                <a:spcPts val="3878"/>
              </a:lnSpc>
              <a:spcBef>
                <a:spcPct val="0"/>
              </a:spcBef>
              <a:buAutoNum type="arabicPeriod" startAt="1"/>
            </a:pPr>
            <a:r>
              <a:rPr lang="en-US" sz="2770">
                <a:solidFill>
                  <a:srgbClr val="201E1E"/>
                </a:solidFill>
                <a:latin typeface="Source Sans Pro"/>
                <a:ea typeface="Source Sans Pro"/>
                <a:cs typeface="Source Sans Pro"/>
                <a:sym typeface="Source Sans Pro"/>
              </a:rPr>
              <a:t>Advanced booking management for check-ins, check-outs, cancellations, rescheduling, extensions, upgrades, and filtering by status, payment, or room type.</a:t>
            </a:r>
          </a:p>
        </p:txBody>
      </p:sp>
      <p:sp>
        <p:nvSpPr>
          <p:cNvPr name="TextBox 19" id="19"/>
          <p:cNvSpPr txBox="true"/>
          <p:nvPr/>
        </p:nvSpPr>
        <p:spPr>
          <a:xfrm rot="0">
            <a:off x="1057098" y="4411507"/>
            <a:ext cx="3339550" cy="497894"/>
          </a:xfrm>
          <a:prstGeom prst="rect">
            <a:avLst/>
          </a:prstGeom>
        </p:spPr>
        <p:txBody>
          <a:bodyPr anchor="t" rtlCol="false" tIns="0" lIns="0" bIns="0" rIns="0">
            <a:spAutoFit/>
          </a:bodyPr>
          <a:lstStyle/>
          <a:p>
            <a:pPr algn="l">
              <a:lnSpc>
                <a:spcPts val="4060"/>
              </a:lnSpc>
              <a:spcBef>
                <a:spcPct val="0"/>
              </a:spcBef>
            </a:pPr>
            <a:r>
              <a:rPr lang="en-US" sz="2900" b="true">
                <a:solidFill>
                  <a:srgbClr val="8F5B69"/>
                </a:solidFill>
                <a:latin typeface="Source Sans Pro Bold"/>
                <a:ea typeface="Source Sans Pro Bold"/>
                <a:cs typeface="Source Sans Pro Bold"/>
                <a:sym typeface="Source Sans Pro Bold"/>
              </a:rPr>
              <a:t>Specific Objectives</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grpSp>
        <p:nvGrpSpPr>
          <p:cNvPr name="Group 2" id="2"/>
          <p:cNvGrpSpPr/>
          <p:nvPr/>
        </p:nvGrpSpPr>
        <p:grpSpPr>
          <a:xfrm rot="0">
            <a:off x="3157414" y="5853659"/>
            <a:ext cx="5378641" cy="47625"/>
            <a:chOff x="0" y="0"/>
            <a:chExt cx="703575" cy="6230"/>
          </a:xfrm>
        </p:grpSpPr>
        <p:sp>
          <p:nvSpPr>
            <p:cNvPr name="Freeform 3" id="3"/>
            <p:cNvSpPr/>
            <p:nvPr/>
          </p:nvSpPr>
          <p:spPr>
            <a:xfrm flipH="false" flipV="false" rot="0">
              <a:off x="0" y="0"/>
              <a:ext cx="703575" cy="6230"/>
            </a:xfrm>
            <a:custGeom>
              <a:avLst/>
              <a:gdLst/>
              <a:ahLst/>
              <a:cxnLst/>
              <a:rect r="r" b="b" t="t" l="l"/>
              <a:pathLst>
                <a:path h="6230" w="703575">
                  <a:moveTo>
                    <a:pt x="0" y="0"/>
                  </a:moveTo>
                  <a:lnTo>
                    <a:pt x="703575" y="0"/>
                  </a:lnTo>
                  <a:lnTo>
                    <a:pt x="703575" y="6230"/>
                  </a:lnTo>
                  <a:lnTo>
                    <a:pt x="0" y="6230"/>
                  </a:lnTo>
                  <a:close/>
                </a:path>
              </a:pathLst>
            </a:custGeom>
            <a:solidFill>
              <a:srgbClr val="8F5B69"/>
            </a:solidFill>
          </p:spPr>
        </p:sp>
        <p:sp>
          <p:nvSpPr>
            <p:cNvPr name="TextBox 4" id="4"/>
            <p:cNvSpPr txBox="true"/>
            <p:nvPr/>
          </p:nvSpPr>
          <p:spPr>
            <a:xfrm>
              <a:off x="0" y="-38100"/>
              <a:ext cx="703575" cy="4433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4819197" y="-3733755"/>
            <a:ext cx="4640971" cy="9524909"/>
            <a:chOff x="0" y="0"/>
            <a:chExt cx="6187962" cy="12699879"/>
          </a:xfrm>
        </p:grpSpPr>
        <p:pic>
          <p:nvPicPr>
            <p:cNvPr name="Picture 6" id="6"/>
            <p:cNvPicPr>
              <a:picLocks noChangeAspect="true"/>
            </p:cNvPicPr>
            <p:nvPr/>
          </p:nvPicPr>
          <p:blipFill>
            <a:blip r:embed="rId2"/>
            <a:srcRect l="69735" t="3415" r="0" b="3415"/>
            <a:stretch>
              <a:fillRect/>
            </a:stretch>
          </p:blipFill>
          <p:spPr>
            <a:xfrm flipH="false" flipV="false">
              <a:off x="0" y="0"/>
              <a:ext cx="6187962" cy="12699879"/>
            </a:xfrm>
            <a:prstGeom prst="rect">
              <a:avLst/>
            </a:prstGeom>
          </p:spPr>
        </p:pic>
      </p:grpSp>
      <p:grpSp>
        <p:nvGrpSpPr>
          <p:cNvPr name="Group 7" id="7"/>
          <p:cNvGrpSpPr/>
          <p:nvPr/>
        </p:nvGrpSpPr>
        <p:grpSpPr>
          <a:xfrm rot="0">
            <a:off x="8959561" y="5853659"/>
            <a:ext cx="5922911" cy="47625"/>
            <a:chOff x="0" y="0"/>
            <a:chExt cx="774770" cy="6230"/>
          </a:xfrm>
        </p:grpSpPr>
        <p:sp>
          <p:nvSpPr>
            <p:cNvPr name="Freeform 8" id="8"/>
            <p:cNvSpPr/>
            <p:nvPr/>
          </p:nvSpPr>
          <p:spPr>
            <a:xfrm flipH="false" flipV="false" rot="0">
              <a:off x="0" y="0"/>
              <a:ext cx="774770" cy="6230"/>
            </a:xfrm>
            <a:custGeom>
              <a:avLst/>
              <a:gdLst/>
              <a:ahLst/>
              <a:cxnLst/>
              <a:rect r="r" b="b" t="t" l="l"/>
              <a:pathLst>
                <a:path h="6230" w="774770">
                  <a:moveTo>
                    <a:pt x="0" y="0"/>
                  </a:moveTo>
                  <a:lnTo>
                    <a:pt x="774770" y="0"/>
                  </a:lnTo>
                  <a:lnTo>
                    <a:pt x="774770" y="6230"/>
                  </a:lnTo>
                  <a:lnTo>
                    <a:pt x="0" y="6230"/>
                  </a:lnTo>
                  <a:close/>
                </a:path>
              </a:pathLst>
            </a:custGeom>
            <a:solidFill>
              <a:srgbClr val="8F5B69"/>
            </a:solidFill>
          </p:spPr>
        </p:sp>
        <p:sp>
          <p:nvSpPr>
            <p:cNvPr name="TextBox 9" id="9"/>
            <p:cNvSpPr txBox="true"/>
            <p:nvPr/>
          </p:nvSpPr>
          <p:spPr>
            <a:xfrm>
              <a:off x="0" y="-38100"/>
              <a:ext cx="774770" cy="4433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415019" y="4385716"/>
            <a:ext cx="5058211" cy="7041100"/>
            <a:chOff x="0" y="0"/>
            <a:chExt cx="6744282" cy="9388133"/>
          </a:xfrm>
        </p:grpSpPr>
        <p:pic>
          <p:nvPicPr>
            <p:cNvPr name="Picture 11" id="11"/>
            <p:cNvPicPr>
              <a:picLocks noChangeAspect="true"/>
            </p:cNvPicPr>
            <p:nvPr/>
          </p:nvPicPr>
          <p:blipFill>
            <a:blip r:embed="rId3"/>
            <a:srcRect l="857" t="0" r="48810" b="0"/>
            <a:stretch>
              <a:fillRect/>
            </a:stretch>
          </p:blipFill>
          <p:spPr>
            <a:xfrm flipH="false" flipV="false">
              <a:off x="0" y="0"/>
              <a:ext cx="6744282" cy="9388133"/>
            </a:xfrm>
            <a:prstGeom prst="rect">
              <a:avLst/>
            </a:prstGeom>
          </p:spPr>
        </p:pic>
      </p:grpSp>
      <p:sp>
        <p:nvSpPr>
          <p:cNvPr name="TextBox 12" id="12"/>
          <p:cNvSpPr txBox="true"/>
          <p:nvPr/>
        </p:nvSpPr>
        <p:spPr>
          <a:xfrm rot="0">
            <a:off x="2823205" y="4357141"/>
            <a:ext cx="12641589" cy="1544143"/>
          </a:xfrm>
          <a:prstGeom prst="rect">
            <a:avLst/>
          </a:prstGeom>
        </p:spPr>
        <p:txBody>
          <a:bodyPr anchor="t" rtlCol="false" tIns="0" lIns="0" bIns="0" rIns="0">
            <a:spAutoFit/>
          </a:bodyPr>
          <a:lstStyle/>
          <a:p>
            <a:pPr algn="ctr">
              <a:lnSpc>
                <a:spcPts val="12356"/>
              </a:lnSpc>
            </a:pPr>
            <a:r>
              <a:rPr lang="en-US" sz="9964" b="true">
                <a:solidFill>
                  <a:srgbClr val="F4F2F1"/>
                </a:solidFill>
                <a:latin typeface="CMU Serif"/>
                <a:ea typeface="CMU Serif"/>
                <a:cs typeface="CMU Serif"/>
                <a:sym typeface="CMU Serif"/>
              </a:rPr>
              <a:t>Scope and Limitations</a:t>
            </a:r>
          </a:p>
        </p:txBody>
      </p:sp>
      <p:grpSp>
        <p:nvGrpSpPr>
          <p:cNvPr name="Group 13" id="13"/>
          <p:cNvGrpSpPr/>
          <p:nvPr/>
        </p:nvGrpSpPr>
        <p:grpSpPr>
          <a:xfrm rot="0">
            <a:off x="19050" y="-1521716"/>
            <a:ext cx="7039968" cy="4649687"/>
            <a:chOff x="0" y="0"/>
            <a:chExt cx="9386624" cy="6199583"/>
          </a:xfrm>
        </p:grpSpPr>
        <p:pic>
          <p:nvPicPr>
            <p:cNvPr name="Picture 14" id="14"/>
            <p:cNvPicPr>
              <a:picLocks noChangeAspect="true"/>
            </p:cNvPicPr>
            <p:nvPr/>
          </p:nvPicPr>
          <p:blipFill>
            <a:blip r:embed="rId4"/>
            <a:srcRect l="0" t="24375" r="0" b="9577"/>
            <a:stretch>
              <a:fillRect/>
            </a:stretch>
          </p:blipFill>
          <p:spPr>
            <a:xfrm flipH="false" flipV="false">
              <a:off x="0" y="0"/>
              <a:ext cx="9386624" cy="6199583"/>
            </a:xfrm>
            <a:prstGeom prst="rect">
              <a:avLst/>
            </a:prstGeom>
          </p:spPr>
        </p:pic>
      </p:grpSp>
      <p:grpSp>
        <p:nvGrpSpPr>
          <p:cNvPr name="Group 15" id="15"/>
          <p:cNvGrpSpPr/>
          <p:nvPr/>
        </p:nvGrpSpPr>
        <p:grpSpPr>
          <a:xfrm rot="0">
            <a:off x="10401017" y="7095978"/>
            <a:ext cx="7886983" cy="4324643"/>
            <a:chOff x="0" y="0"/>
            <a:chExt cx="10515977" cy="5766191"/>
          </a:xfrm>
        </p:grpSpPr>
        <p:pic>
          <p:nvPicPr>
            <p:cNvPr name="Picture 16" id="16"/>
            <p:cNvPicPr>
              <a:picLocks noChangeAspect="true"/>
            </p:cNvPicPr>
            <p:nvPr/>
          </p:nvPicPr>
          <p:blipFill>
            <a:blip r:embed="rId5"/>
            <a:srcRect l="10028" t="20336" r="0" b="5662"/>
            <a:stretch>
              <a:fillRect/>
            </a:stretch>
          </p:blipFill>
          <p:spPr>
            <a:xfrm flipH="false" flipV="false">
              <a:off x="0" y="0"/>
              <a:ext cx="10515977" cy="5766191"/>
            </a:xfrm>
            <a:prstGeom prst="rect">
              <a:avLst/>
            </a:prstGeom>
          </p:spPr>
        </p:pic>
      </p:grpSp>
    </p:spTree>
  </p:cSld>
  <p:clrMapOvr>
    <a:masterClrMapping/>
  </p:clrMapOvr>
  <p:transition spd="fast">
    <p:fade/>
  </p:transition>
</p:sld>
</file>

<file path=ppt/slides/slide7.xml><?xml version="1.0" encoding="utf-8"?>
<p:sld xmlns:p="http://schemas.openxmlformats.org/presentationml/2006/main" xmlns:a="http://schemas.openxmlformats.org/drawingml/2006/main">
  <p:cSld>
    <p:bg>
      <p:bgPr>
        <a:solidFill>
          <a:srgbClr val="271117"/>
        </a:solidFill>
      </p:bgPr>
    </p:bg>
    <p:spTree>
      <p:nvGrpSpPr>
        <p:cNvPr id="1" name=""/>
        <p:cNvGrpSpPr/>
        <p:nvPr/>
      </p:nvGrpSpPr>
      <p:grpSpPr>
        <a:xfrm>
          <a:off x="0" y="0"/>
          <a:ext cx="0" cy="0"/>
          <a:chOff x="0" y="0"/>
          <a:chExt cx="0" cy="0"/>
        </a:xfrm>
      </p:grpSpPr>
      <p:grpSp>
        <p:nvGrpSpPr>
          <p:cNvPr name="Group 2" id="2"/>
          <p:cNvGrpSpPr/>
          <p:nvPr/>
        </p:nvGrpSpPr>
        <p:grpSpPr>
          <a:xfrm rot="0">
            <a:off x="1028700" y="534392"/>
            <a:ext cx="1245141" cy="47625"/>
            <a:chOff x="0" y="0"/>
            <a:chExt cx="327938" cy="12543"/>
          </a:xfrm>
        </p:grpSpPr>
        <p:sp>
          <p:nvSpPr>
            <p:cNvPr name="Freeform 3" id="3"/>
            <p:cNvSpPr/>
            <p:nvPr/>
          </p:nvSpPr>
          <p:spPr>
            <a:xfrm flipH="false" flipV="false" rot="0">
              <a:off x="0" y="0"/>
              <a:ext cx="327938" cy="12543"/>
            </a:xfrm>
            <a:custGeom>
              <a:avLst/>
              <a:gdLst/>
              <a:ahLst/>
              <a:cxnLst/>
              <a:rect r="r" b="b" t="t" l="l"/>
              <a:pathLst>
                <a:path h="12543" w="327938">
                  <a:moveTo>
                    <a:pt x="0" y="0"/>
                  </a:moveTo>
                  <a:lnTo>
                    <a:pt x="327938" y="0"/>
                  </a:lnTo>
                  <a:lnTo>
                    <a:pt x="327938" y="12543"/>
                  </a:lnTo>
                  <a:lnTo>
                    <a:pt x="0" y="12543"/>
                  </a:lnTo>
                  <a:close/>
                </a:path>
              </a:pathLst>
            </a:custGeom>
            <a:solidFill>
              <a:srgbClr val="8F5B69"/>
            </a:solidFill>
          </p:spPr>
        </p:sp>
        <p:sp>
          <p:nvSpPr>
            <p:cNvPr name="TextBox 4" id="4"/>
            <p:cNvSpPr txBox="true"/>
            <p:nvPr/>
          </p:nvSpPr>
          <p:spPr>
            <a:xfrm>
              <a:off x="0" y="-38100"/>
              <a:ext cx="327938" cy="5064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2390746" y="534392"/>
            <a:ext cx="325026" cy="47625"/>
            <a:chOff x="0" y="0"/>
            <a:chExt cx="85604" cy="12543"/>
          </a:xfrm>
        </p:grpSpPr>
        <p:sp>
          <p:nvSpPr>
            <p:cNvPr name="Freeform 6" id="6"/>
            <p:cNvSpPr/>
            <p:nvPr/>
          </p:nvSpPr>
          <p:spPr>
            <a:xfrm flipH="false" flipV="false" rot="0">
              <a:off x="0" y="0"/>
              <a:ext cx="85604" cy="12543"/>
            </a:xfrm>
            <a:custGeom>
              <a:avLst/>
              <a:gdLst/>
              <a:ahLst/>
              <a:cxnLst/>
              <a:rect r="r" b="b" t="t" l="l"/>
              <a:pathLst>
                <a:path h="12543" w="85604">
                  <a:moveTo>
                    <a:pt x="0" y="0"/>
                  </a:moveTo>
                  <a:lnTo>
                    <a:pt x="85604" y="0"/>
                  </a:lnTo>
                  <a:lnTo>
                    <a:pt x="85604" y="12543"/>
                  </a:lnTo>
                  <a:lnTo>
                    <a:pt x="0" y="12543"/>
                  </a:lnTo>
                  <a:close/>
                </a:path>
              </a:pathLst>
            </a:custGeom>
            <a:solidFill>
              <a:srgbClr val="8F5B69"/>
            </a:solidFill>
          </p:spPr>
        </p:sp>
        <p:sp>
          <p:nvSpPr>
            <p:cNvPr name="TextBox 7" id="7"/>
            <p:cNvSpPr txBox="true"/>
            <p:nvPr/>
          </p:nvSpPr>
          <p:spPr>
            <a:xfrm>
              <a:off x="0" y="-38100"/>
              <a:ext cx="85604" cy="50643"/>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028700" y="792812"/>
            <a:ext cx="12354804" cy="931599"/>
          </a:xfrm>
          <a:prstGeom prst="rect">
            <a:avLst/>
          </a:prstGeom>
        </p:spPr>
        <p:txBody>
          <a:bodyPr anchor="t" rtlCol="false" tIns="0" lIns="0" bIns="0" rIns="0">
            <a:spAutoFit/>
          </a:bodyPr>
          <a:lstStyle/>
          <a:p>
            <a:pPr algn="l">
              <a:lnSpc>
                <a:spcPts val="7440"/>
              </a:lnSpc>
            </a:pPr>
            <a:r>
              <a:rPr lang="en-US" sz="6000" b="true">
                <a:solidFill>
                  <a:srgbClr val="F4F2F1"/>
                </a:solidFill>
                <a:latin typeface="CMU Serif"/>
                <a:ea typeface="CMU Serif"/>
                <a:cs typeface="CMU Serif"/>
                <a:sym typeface="CMU Serif"/>
              </a:rPr>
              <a:t>Scope </a:t>
            </a:r>
          </a:p>
        </p:txBody>
      </p:sp>
      <p:sp>
        <p:nvSpPr>
          <p:cNvPr name="TextBox 9" id="9"/>
          <p:cNvSpPr txBox="true"/>
          <p:nvPr/>
        </p:nvSpPr>
        <p:spPr>
          <a:xfrm rot="0">
            <a:off x="361540" y="1895862"/>
            <a:ext cx="17564919" cy="8340190"/>
          </a:xfrm>
          <a:prstGeom prst="rect">
            <a:avLst/>
          </a:prstGeom>
        </p:spPr>
        <p:txBody>
          <a:bodyPr anchor="t" rtlCol="false" tIns="0" lIns="0" bIns="0" rIns="0">
            <a:spAutoFit/>
          </a:bodyPr>
          <a:lstStyle/>
          <a:p>
            <a:pPr algn="just" marL="733366" indent="-366683" lvl="1">
              <a:lnSpc>
                <a:spcPts val="4755"/>
              </a:lnSpc>
              <a:buFont typeface="Arial"/>
              <a:buChar char="•"/>
            </a:pPr>
            <a:r>
              <a:rPr lang="en-US" sz="3396">
                <a:solidFill>
                  <a:srgbClr val="F4F2F1"/>
                </a:solidFill>
                <a:latin typeface="Source Sans Pro"/>
                <a:ea typeface="Source Sans Pro"/>
                <a:cs typeface="Source Sans Pro"/>
                <a:sym typeface="Source Sans Pro"/>
              </a:rPr>
              <a:t>Admin login with username and password verified against the database.</a:t>
            </a:r>
          </a:p>
          <a:p>
            <a:pPr algn="just" marL="733366" indent="-366683" lvl="1">
              <a:lnSpc>
                <a:spcPts val="4755"/>
              </a:lnSpc>
              <a:buFont typeface="Arial"/>
              <a:buChar char="•"/>
            </a:pPr>
            <a:r>
              <a:rPr lang="en-US" sz="3396">
                <a:solidFill>
                  <a:srgbClr val="F4F2F1"/>
                </a:solidFill>
                <a:latin typeface="Source Sans Pro"/>
                <a:ea typeface="Source Sans Pro"/>
                <a:cs typeface="Source Sans Pro"/>
                <a:sym typeface="Source Sans Pro"/>
              </a:rPr>
              <a:t>Customer records: add new customers or search for returning ones, with names locked to prevent accidental edits.</a:t>
            </a:r>
          </a:p>
          <a:p>
            <a:pPr algn="just" marL="733366" indent="-366683" lvl="1">
              <a:lnSpc>
                <a:spcPts val="4755"/>
              </a:lnSpc>
              <a:buFont typeface="Arial"/>
              <a:buChar char="•"/>
            </a:pPr>
            <a:r>
              <a:rPr lang="en-US" sz="3396">
                <a:solidFill>
                  <a:srgbClr val="F4F2F1"/>
                </a:solidFill>
                <a:latin typeface="Source Sans Pro"/>
                <a:ea typeface="Source Sans Pro"/>
                <a:cs typeface="Source Sans Pro"/>
                <a:sym typeface="Source Sans Pro"/>
              </a:rPr>
              <a:t>Bookings: reserve rooms, set dates, add extra charges, apply Senior or PWD discounts, and compute the total price.</a:t>
            </a:r>
          </a:p>
          <a:p>
            <a:pPr algn="just" marL="733366" indent="-366683" lvl="1">
              <a:lnSpc>
                <a:spcPts val="4755"/>
              </a:lnSpc>
              <a:buFont typeface="Arial"/>
              <a:buChar char="•"/>
            </a:pPr>
            <a:r>
              <a:rPr lang="en-US" sz="3396">
                <a:solidFill>
                  <a:srgbClr val="F4F2F1"/>
                </a:solidFill>
                <a:latin typeface="Source Sans Pro"/>
                <a:ea typeface="Source Sans Pro"/>
                <a:cs typeface="Source Sans Pro"/>
                <a:sym typeface="Source Sans Pro"/>
              </a:rPr>
              <a:t>Room status: display all rooms in a table, dynamically sorted by Occupied, Reserved, and Available, with a refresh button for updates.</a:t>
            </a:r>
          </a:p>
          <a:p>
            <a:pPr algn="just" marL="733366" indent="-366683" lvl="1">
              <a:lnSpc>
                <a:spcPts val="4755"/>
              </a:lnSpc>
              <a:buFont typeface="Arial"/>
              <a:buChar char="•"/>
            </a:pPr>
            <a:r>
              <a:rPr lang="en-US" sz="3396">
                <a:solidFill>
                  <a:srgbClr val="F4F2F1"/>
                </a:solidFill>
                <a:latin typeface="Source Sans Pro"/>
                <a:ea typeface="Source Sans Pro"/>
                <a:cs typeface="Source Sans Pro"/>
                <a:sym typeface="Source Sans Pro"/>
              </a:rPr>
              <a:t>Manage reservations: staff can process check-ins, check-outs, and cancellations.</a:t>
            </a:r>
          </a:p>
          <a:p>
            <a:pPr algn="just" marL="733366" indent="-366683" lvl="1">
              <a:lnSpc>
                <a:spcPts val="4755"/>
              </a:lnSpc>
              <a:buFont typeface="Arial"/>
              <a:buChar char="•"/>
            </a:pPr>
            <a:r>
              <a:rPr lang="en-US" sz="3396">
                <a:solidFill>
                  <a:srgbClr val="F4F2F1"/>
                </a:solidFill>
                <a:latin typeface="Source Sans Pro"/>
                <a:ea typeface="Source Sans Pro"/>
                <a:cs typeface="Source Sans Pro"/>
                <a:sym typeface="Source Sans Pro"/>
              </a:rPr>
              <a:t>Modifying stays: upgrade room category, extend the check-out date, or reschedule bookings with an automatic 15% charge.</a:t>
            </a:r>
          </a:p>
          <a:p>
            <a:pPr algn="just" marL="733366" indent="-366683" lvl="1">
              <a:lnSpc>
                <a:spcPts val="4755"/>
              </a:lnSpc>
              <a:buFont typeface="Arial"/>
              <a:buChar char="•"/>
            </a:pPr>
            <a:r>
              <a:rPr lang="en-US" sz="3396">
                <a:solidFill>
                  <a:srgbClr val="F4F2F1"/>
                </a:solidFill>
                <a:latin typeface="Source Sans Pro"/>
                <a:ea typeface="Source Sans Pro"/>
                <a:cs typeface="Source Sans Pro"/>
                <a:sym typeface="Source Sans Pro"/>
              </a:rPr>
              <a:t>Filtering: sort reservations by status, payment method, or room type using apply and clear filter buttons.</a:t>
            </a:r>
          </a:p>
          <a:p>
            <a:pPr algn="just" marL="733366" indent="-366683" lvl="1">
              <a:lnSpc>
                <a:spcPts val="4755"/>
              </a:lnSpc>
              <a:buFont typeface="Arial"/>
              <a:buChar char="•"/>
            </a:pPr>
            <a:r>
              <a:rPr lang="en-US" sz="3396">
                <a:solidFill>
                  <a:srgbClr val="F4F2F1"/>
                </a:solidFill>
                <a:latin typeface="Source Sans Pro"/>
                <a:ea typeface="Source Sans Pro"/>
                <a:cs typeface="Source Sans Pro"/>
                <a:sym typeface="Source Sans Pro"/>
              </a:rPr>
              <a:t>MySQL database connection via JDBC.</a:t>
            </a:r>
          </a:p>
          <a:p>
            <a:pPr algn="just">
              <a:lnSpc>
                <a:spcPts val="4755"/>
              </a:lnSpc>
              <a:spcBef>
                <a:spcPct val="0"/>
              </a:spcBef>
            </a:pP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p:cSld>
    <p:bg>
      <p:bgPr>
        <a:solidFill>
          <a:srgbClr val="271117"/>
        </a:solidFill>
      </p:bgPr>
    </p:bg>
    <p:spTree>
      <p:nvGrpSpPr>
        <p:cNvPr id="1" name=""/>
        <p:cNvGrpSpPr/>
        <p:nvPr/>
      </p:nvGrpSpPr>
      <p:grpSpPr>
        <a:xfrm>
          <a:off x="0" y="0"/>
          <a:ext cx="0" cy="0"/>
          <a:chOff x="0" y="0"/>
          <a:chExt cx="0" cy="0"/>
        </a:xfrm>
      </p:grpSpPr>
      <p:grpSp>
        <p:nvGrpSpPr>
          <p:cNvPr name="Group 2" id="2"/>
          <p:cNvGrpSpPr/>
          <p:nvPr/>
        </p:nvGrpSpPr>
        <p:grpSpPr>
          <a:xfrm rot="0">
            <a:off x="1028700" y="534392"/>
            <a:ext cx="1245141" cy="47625"/>
            <a:chOff x="0" y="0"/>
            <a:chExt cx="327938" cy="12543"/>
          </a:xfrm>
        </p:grpSpPr>
        <p:sp>
          <p:nvSpPr>
            <p:cNvPr name="Freeform 3" id="3"/>
            <p:cNvSpPr/>
            <p:nvPr/>
          </p:nvSpPr>
          <p:spPr>
            <a:xfrm flipH="false" flipV="false" rot="0">
              <a:off x="0" y="0"/>
              <a:ext cx="327938" cy="12543"/>
            </a:xfrm>
            <a:custGeom>
              <a:avLst/>
              <a:gdLst/>
              <a:ahLst/>
              <a:cxnLst/>
              <a:rect r="r" b="b" t="t" l="l"/>
              <a:pathLst>
                <a:path h="12543" w="327938">
                  <a:moveTo>
                    <a:pt x="0" y="0"/>
                  </a:moveTo>
                  <a:lnTo>
                    <a:pt x="327938" y="0"/>
                  </a:lnTo>
                  <a:lnTo>
                    <a:pt x="327938" y="12543"/>
                  </a:lnTo>
                  <a:lnTo>
                    <a:pt x="0" y="12543"/>
                  </a:lnTo>
                  <a:close/>
                </a:path>
              </a:pathLst>
            </a:custGeom>
            <a:solidFill>
              <a:srgbClr val="8F5B69"/>
            </a:solidFill>
          </p:spPr>
        </p:sp>
        <p:sp>
          <p:nvSpPr>
            <p:cNvPr name="TextBox 4" id="4"/>
            <p:cNvSpPr txBox="true"/>
            <p:nvPr/>
          </p:nvSpPr>
          <p:spPr>
            <a:xfrm>
              <a:off x="0" y="-38100"/>
              <a:ext cx="327938" cy="5064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2390746" y="534392"/>
            <a:ext cx="325026" cy="47625"/>
            <a:chOff x="0" y="0"/>
            <a:chExt cx="85604" cy="12543"/>
          </a:xfrm>
        </p:grpSpPr>
        <p:sp>
          <p:nvSpPr>
            <p:cNvPr name="Freeform 6" id="6"/>
            <p:cNvSpPr/>
            <p:nvPr/>
          </p:nvSpPr>
          <p:spPr>
            <a:xfrm flipH="false" flipV="false" rot="0">
              <a:off x="0" y="0"/>
              <a:ext cx="85604" cy="12543"/>
            </a:xfrm>
            <a:custGeom>
              <a:avLst/>
              <a:gdLst/>
              <a:ahLst/>
              <a:cxnLst/>
              <a:rect r="r" b="b" t="t" l="l"/>
              <a:pathLst>
                <a:path h="12543" w="85604">
                  <a:moveTo>
                    <a:pt x="0" y="0"/>
                  </a:moveTo>
                  <a:lnTo>
                    <a:pt x="85604" y="0"/>
                  </a:lnTo>
                  <a:lnTo>
                    <a:pt x="85604" y="12543"/>
                  </a:lnTo>
                  <a:lnTo>
                    <a:pt x="0" y="12543"/>
                  </a:lnTo>
                  <a:close/>
                </a:path>
              </a:pathLst>
            </a:custGeom>
            <a:solidFill>
              <a:srgbClr val="8F5B69"/>
            </a:solidFill>
          </p:spPr>
        </p:sp>
        <p:sp>
          <p:nvSpPr>
            <p:cNvPr name="TextBox 7" id="7"/>
            <p:cNvSpPr txBox="true"/>
            <p:nvPr/>
          </p:nvSpPr>
          <p:spPr>
            <a:xfrm>
              <a:off x="0" y="-38100"/>
              <a:ext cx="85604" cy="50643"/>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028700" y="792812"/>
            <a:ext cx="12354804" cy="931599"/>
          </a:xfrm>
          <a:prstGeom prst="rect">
            <a:avLst/>
          </a:prstGeom>
        </p:spPr>
        <p:txBody>
          <a:bodyPr anchor="t" rtlCol="false" tIns="0" lIns="0" bIns="0" rIns="0">
            <a:spAutoFit/>
          </a:bodyPr>
          <a:lstStyle/>
          <a:p>
            <a:pPr algn="l">
              <a:lnSpc>
                <a:spcPts val="7440"/>
              </a:lnSpc>
            </a:pPr>
            <a:r>
              <a:rPr lang="en-US" sz="6000" b="true">
                <a:solidFill>
                  <a:srgbClr val="F4F2F1"/>
                </a:solidFill>
                <a:latin typeface="CMU Serif"/>
                <a:ea typeface="CMU Serif"/>
                <a:cs typeface="CMU Serif"/>
                <a:sym typeface="CMU Serif"/>
              </a:rPr>
              <a:t>Limitations</a:t>
            </a:r>
          </a:p>
        </p:txBody>
      </p:sp>
      <p:sp>
        <p:nvSpPr>
          <p:cNvPr name="TextBox 9" id="9"/>
          <p:cNvSpPr txBox="true"/>
          <p:nvPr/>
        </p:nvSpPr>
        <p:spPr>
          <a:xfrm rot="0">
            <a:off x="1788601" y="2332481"/>
            <a:ext cx="14710798" cy="5555363"/>
          </a:xfrm>
          <a:prstGeom prst="rect">
            <a:avLst/>
          </a:prstGeom>
        </p:spPr>
        <p:txBody>
          <a:bodyPr anchor="t" rtlCol="false" tIns="0" lIns="0" bIns="0" rIns="0">
            <a:spAutoFit/>
          </a:bodyPr>
          <a:lstStyle/>
          <a:p>
            <a:pPr algn="just" marL="760336" indent="-380168" lvl="1">
              <a:lnSpc>
                <a:spcPts val="4930"/>
              </a:lnSpc>
              <a:buFont typeface="Arial"/>
              <a:buChar char="•"/>
            </a:pPr>
            <a:r>
              <a:rPr lang="en-US" sz="3521">
                <a:solidFill>
                  <a:srgbClr val="F4F2F1"/>
                </a:solidFill>
                <a:latin typeface="Source Sans Pro"/>
                <a:ea typeface="Source Sans Pro"/>
                <a:cs typeface="Source Sans Pro"/>
                <a:sym typeface="Source Sans Pro"/>
              </a:rPr>
              <a:t>This is a desktop application only. It will not run on mobile phones or web browsers.</a:t>
            </a:r>
          </a:p>
          <a:p>
            <a:pPr algn="just" marL="760336" indent="-380168" lvl="1">
              <a:lnSpc>
                <a:spcPts val="4930"/>
              </a:lnSpc>
              <a:buFont typeface="Arial"/>
              <a:buChar char="•"/>
            </a:pPr>
            <a:r>
              <a:rPr lang="en-US" sz="3521">
                <a:solidFill>
                  <a:srgbClr val="F4F2F1"/>
                </a:solidFill>
                <a:latin typeface="Source Sans Pro"/>
                <a:ea typeface="Source Sans Pro"/>
                <a:cs typeface="Source Sans Pro"/>
                <a:sym typeface="Source Sans Pro"/>
              </a:rPr>
              <a:t>It does not handle actual online payments. Staff collect payment manually and only record the method used, either Cash or GCash QR Scan.</a:t>
            </a:r>
          </a:p>
          <a:p>
            <a:pPr algn="just" marL="760336" indent="-380168" lvl="1">
              <a:lnSpc>
                <a:spcPts val="4930"/>
              </a:lnSpc>
              <a:buFont typeface="Arial"/>
              <a:buChar char="•"/>
            </a:pPr>
            <a:r>
              <a:rPr lang="en-US" sz="3521">
                <a:solidFill>
                  <a:srgbClr val="F4F2F1"/>
                </a:solidFill>
                <a:latin typeface="Source Sans Pro"/>
                <a:ea typeface="Source Sans Pro"/>
                <a:cs typeface="Source Sans Pro"/>
                <a:sym typeface="Source Sans Pro"/>
              </a:rPr>
              <a:t>The system does not send automatic emails or text messages to customers.</a:t>
            </a:r>
          </a:p>
          <a:p>
            <a:pPr algn="just" marL="760336" indent="-380168" lvl="1">
              <a:lnSpc>
                <a:spcPts val="4930"/>
              </a:lnSpc>
              <a:buFont typeface="Arial"/>
              <a:buChar char="•"/>
            </a:pPr>
            <a:r>
              <a:rPr lang="en-US" sz="3521">
                <a:solidFill>
                  <a:srgbClr val="F4F2F1"/>
                </a:solidFill>
                <a:latin typeface="Source Sans Pro"/>
                <a:ea typeface="Source Sans Pro"/>
                <a:cs typeface="Source Sans Pro"/>
                <a:sym typeface="Source Sans Pro"/>
              </a:rPr>
              <a:t>It runs on a single local computer only and does not support multiple hotel branches.</a:t>
            </a:r>
          </a:p>
          <a:p>
            <a:pPr algn="just">
              <a:lnSpc>
                <a:spcPts val="4930"/>
              </a:lnSpc>
              <a:spcBef>
                <a:spcPct val="0"/>
              </a:spcBef>
            </a:pP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grpSp>
        <p:nvGrpSpPr>
          <p:cNvPr name="Group 2" id="2"/>
          <p:cNvGrpSpPr/>
          <p:nvPr/>
        </p:nvGrpSpPr>
        <p:grpSpPr>
          <a:xfrm rot="0">
            <a:off x="3157414" y="5895930"/>
            <a:ext cx="5378641" cy="47625"/>
            <a:chOff x="0" y="0"/>
            <a:chExt cx="703575" cy="6230"/>
          </a:xfrm>
        </p:grpSpPr>
        <p:sp>
          <p:nvSpPr>
            <p:cNvPr name="Freeform 3" id="3"/>
            <p:cNvSpPr/>
            <p:nvPr/>
          </p:nvSpPr>
          <p:spPr>
            <a:xfrm flipH="false" flipV="false" rot="0">
              <a:off x="0" y="0"/>
              <a:ext cx="703575" cy="6230"/>
            </a:xfrm>
            <a:custGeom>
              <a:avLst/>
              <a:gdLst/>
              <a:ahLst/>
              <a:cxnLst/>
              <a:rect r="r" b="b" t="t" l="l"/>
              <a:pathLst>
                <a:path h="6230" w="703575">
                  <a:moveTo>
                    <a:pt x="0" y="0"/>
                  </a:moveTo>
                  <a:lnTo>
                    <a:pt x="703575" y="0"/>
                  </a:lnTo>
                  <a:lnTo>
                    <a:pt x="703575" y="6230"/>
                  </a:lnTo>
                  <a:lnTo>
                    <a:pt x="0" y="6230"/>
                  </a:lnTo>
                  <a:close/>
                </a:path>
              </a:pathLst>
            </a:custGeom>
            <a:solidFill>
              <a:srgbClr val="8F5B69"/>
            </a:solidFill>
          </p:spPr>
        </p:sp>
        <p:sp>
          <p:nvSpPr>
            <p:cNvPr name="TextBox 4" id="4"/>
            <p:cNvSpPr txBox="true"/>
            <p:nvPr/>
          </p:nvSpPr>
          <p:spPr>
            <a:xfrm>
              <a:off x="0" y="-38100"/>
              <a:ext cx="703575" cy="4433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4797279" y="-3959326"/>
            <a:ext cx="4640971" cy="9524909"/>
            <a:chOff x="0" y="0"/>
            <a:chExt cx="6187962" cy="12699879"/>
          </a:xfrm>
        </p:grpSpPr>
        <p:pic>
          <p:nvPicPr>
            <p:cNvPr name="Picture 6" id="6"/>
            <p:cNvPicPr>
              <a:picLocks noChangeAspect="true"/>
            </p:cNvPicPr>
            <p:nvPr/>
          </p:nvPicPr>
          <p:blipFill>
            <a:blip r:embed="rId2"/>
            <a:srcRect l="69735" t="3415" r="0" b="3415"/>
            <a:stretch>
              <a:fillRect/>
            </a:stretch>
          </p:blipFill>
          <p:spPr>
            <a:xfrm flipH="false" flipV="false">
              <a:off x="0" y="0"/>
              <a:ext cx="6187962" cy="12699879"/>
            </a:xfrm>
            <a:prstGeom prst="rect">
              <a:avLst/>
            </a:prstGeom>
          </p:spPr>
        </p:pic>
      </p:grpSp>
      <p:grpSp>
        <p:nvGrpSpPr>
          <p:cNvPr name="Group 7" id="7"/>
          <p:cNvGrpSpPr/>
          <p:nvPr/>
        </p:nvGrpSpPr>
        <p:grpSpPr>
          <a:xfrm rot="0">
            <a:off x="8959561" y="5895930"/>
            <a:ext cx="5922911" cy="47625"/>
            <a:chOff x="0" y="0"/>
            <a:chExt cx="774770" cy="6230"/>
          </a:xfrm>
        </p:grpSpPr>
        <p:sp>
          <p:nvSpPr>
            <p:cNvPr name="Freeform 8" id="8"/>
            <p:cNvSpPr/>
            <p:nvPr/>
          </p:nvSpPr>
          <p:spPr>
            <a:xfrm flipH="false" flipV="false" rot="0">
              <a:off x="0" y="0"/>
              <a:ext cx="774770" cy="6230"/>
            </a:xfrm>
            <a:custGeom>
              <a:avLst/>
              <a:gdLst/>
              <a:ahLst/>
              <a:cxnLst/>
              <a:rect r="r" b="b" t="t" l="l"/>
              <a:pathLst>
                <a:path h="6230" w="774770">
                  <a:moveTo>
                    <a:pt x="0" y="0"/>
                  </a:moveTo>
                  <a:lnTo>
                    <a:pt x="774770" y="0"/>
                  </a:lnTo>
                  <a:lnTo>
                    <a:pt x="774770" y="6230"/>
                  </a:lnTo>
                  <a:lnTo>
                    <a:pt x="0" y="6230"/>
                  </a:lnTo>
                  <a:close/>
                </a:path>
              </a:pathLst>
            </a:custGeom>
            <a:solidFill>
              <a:srgbClr val="8F5B69"/>
            </a:solidFill>
          </p:spPr>
        </p:sp>
        <p:sp>
          <p:nvSpPr>
            <p:cNvPr name="TextBox 9" id="9"/>
            <p:cNvSpPr txBox="true"/>
            <p:nvPr/>
          </p:nvSpPr>
          <p:spPr>
            <a:xfrm>
              <a:off x="0" y="-38100"/>
              <a:ext cx="774770" cy="4433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579418" y="4552874"/>
            <a:ext cx="5058211" cy="7041100"/>
            <a:chOff x="0" y="0"/>
            <a:chExt cx="6744282" cy="9388133"/>
          </a:xfrm>
        </p:grpSpPr>
        <p:pic>
          <p:nvPicPr>
            <p:cNvPr name="Picture 11" id="11"/>
            <p:cNvPicPr>
              <a:picLocks noChangeAspect="true"/>
            </p:cNvPicPr>
            <p:nvPr/>
          </p:nvPicPr>
          <p:blipFill>
            <a:blip r:embed="rId3"/>
            <a:srcRect l="857" t="0" r="48810" b="0"/>
            <a:stretch>
              <a:fillRect/>
            </a:stretch>
          </p:blipFill>
          <p:spPr>
            <a:xfrm flipH="false" flipV="false">
              <a:off x="0" y="0"/>
              <a:ext cx="6744282" cy="9388133"/>
            </a:xfrm>
            <a:prstGeom prst="rect">
              <a:avLst/>
            </a:prstGeom>
          </p:spPr>
        </p:pic>
      </p:grpSp>
      <p:sp>
        <p:nvSpPr>
          <p:cNvPr name="TextBox 12" id="12"/>
          <p:cNvSpPr txBox="true"/>
          <p:nvPr/>
        </p:nvSpPr>
        <p:spPr>
          <a:xfrm rot="0">
            <a:off x="2326242" y="4374101"/>
            <a:ext cx="13635516" cy="3110332"/>
          </a:xfrm>
          <a:prstGeom prst="rect">
            <a:avLst/>
          </a:prstGeom>
        </p:spPr>
        <p:txBody>
          <a:bodyPr anchor="t" rtlCol="false" tIns="0" lIns="0" bIns="0" rIns="0">
            <a:spAutoFit/>
          </a:bodyPr>
          <a:lstStyle/>
          <a:p>
            <a:pPr algn="ctr">
              <a:lnSpc>
                <a:spcPts val="12356"/>
              </a:lnSpc>
            </a:pPr>
            <a:r>
              <a:rPr lang="en-US" sz="9964" b="true">
                <a:solidFill>
                  <a:srgbClr val="F4F2F1"/>
                </a:solidFill>
                <a:latin typeface="CMU Serif"/>
                <a:ea typeface="CMU Serif"/>
                <a:cs typeface="CMU Serif"/>
                <a:sym typeface="CMU Serif"/>
              </a:rPr>
              <a:t>SYSTEM FEATURES &amp; MODULES</a:t>
            </a:r>
          </a:p>
        </p:txBody>
      </p:sp>
      <p:grpSp>
        <p:nvGrpSpPr>
          <p:cNvPr name="Group 13" id="13"/>
          <p:cNvGrpSpPr/>
          <p:nvPr/>
        </p:nvGrpSpPr>
        <p:grpSpPr>
          <a:xfrm rot="0">
            <a:off x="19050" y="-1521716"/>
            <a:ext cx="7039968" cy="4649687"/>
            <a:chOff x="0" y="0"/>
            <a:chExt cx="9386624" cy="6199583"/>
          </a:xfrm>
        </p:grpSpPr>
        <p:pic>
          <p:nvPicPr>
            <p:cNvPr name="Picture 14" id="14"/>
            <p:cNvPicPr>
              <a:picLocks noChangeAspect="true"/>
            </p:cNvPicPr>
            <p:nvPr/>
          </p:nvPicPr>
          <p:blipFill>
            <a:blip r:embed="rId4"/>
            <a:srcRect l="0" t="24375" r="0" b="9577"/>
            <a:stretch>
              <a:fillRect/>
            </a:stretch>
          </p:blipFill>
          <p:spPr>
            <a:xfrm flipH="false" flipV="false">
              <a:off x="0" y="0"/>
              <a:ext cx="9386624" cy="6199583"/>
            </a:xfrm>
            <a:prstGeom prst="rect">
              <a:avLst/>
            </a:prstGeom>
          </p:spPr>
        </p:pic>
      </p:grpSp>
      <p:grpSp>
        <p:nvGrpSpPr>
          <p:cNvPr name="Group 15" id="15"/>
          <p:cNvGrpSpPr/>
          <p:nvPr/>
        </p:nvGrpSpPr>
        <p:grpSpPr>
          <a:xfrm rot="0">
            <a:off x="10401017" y="7465151"/>
            <a:ext cx="7886983" cy="4324643"/>
            <a:chOff x="0" y="0"/>
            <a:chExt cx="10515977" cy="5766191"/>
          </a:xfrm>
        </p:grpSpPr>
        <p:pic>
          <p:nvPicPr>
            <p:cNvPr name="Picture 16" id="16"/>
            <p:cNvPicPr>
              <a:picLocks noChangeAspect="true"/>
            </p:cNvPicPr>
            <p:nvPr/>
          </p:nvPicPr>
          <p:blipFill>
            <a:blip r:embed="rId5"/>
            <a:srcRect l="10028" t="20336" r="0" b="5662"/>
            <a:stretch>
              <a:fillRect/>
            </a:stretch>
          </p:blipFill>
          <p:spPr>
            <a:xfrm flipH="false" flipV="false">
              <a:off x="0" y="0"/>
              <a:ext cx="10515977" cy="5766191"/>
            </a:xfrm>
            <a:prstGeom prst="rect">
              <a:avLst/>
            </a:prstGeom>
          </p:spPr>
        </p:pic>
      </p:gr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grpSp>
        <p:nvGrpSpPr>
          <p:cNvPr name="Group 2" id="2"/>
          <p:cNvGrpSpPr/>
          <p:nvPr/>
        </p:nvGrpSpPr>
        <p:grpSpPr>
          <a:xfrm rot="0">
            <a:off x="7928254" y="2383829"/>
            <a:ext cx="8578776" cy="6470108"/>
            <a:chOff x="0" y="0"/>
            <a:chExt cx="11438368" cy="8626811"/>
          </a:xfrm>
        </p:grpSpPr>
        <p:pic>
          <p:nvPicPr>
            <p:cNvPr name="Picture 3" id="3"/>
            <p:cNvPicPr>
              <a:picLocks noChangeAspect="true"/>
            </p:cNvPicPr>
            <p:nvPr/>
          </p:nvPicPr>
          <p:blipFill>
            <a:blip r:embed="rId2"/>
            <a:srcRect l="2202" t="0" r="2202" b="0"/>
            <a:stretch>
              <a:fillRect/>
            </a:stretch>
          </p:blipFill>
          <p:spPr>
            <a:xfrm flipH="false" flipV="false">
              <a:off x="0" y="0"/>
              <a:ext cx="11438368" cy="8626811"/>
            </a:xfrm>
            <a:prstGeom prst="rect">
              <a:avLst/>
            </a:prstGeom>
          </p:spPr>
        </p:pic>
      </p:grpSp>
      <p:grpSp>
        <p:nvGrpSpPr>
          <p:cNvPr name="Group 4" id="4"/>
          <p:cNvGrpSpPr/>
          <p:nvPr/>
        </p:nvGrpSpPr>
        <p:grpSpPr>
          <a:xfrm rot="0">
            <a:off x="1651271" y="1028700"/>
            <a:ext cx="1245141" cy="47625"/>
            <a:chOff x="0" y="0"/>
            <a:chExt cx="327938" cy="12543"/>
          </a:xfrm>
        </p:grpSpPr>
        <p:sp>
          <p:nvSpPr>
            <p:cNvPr name="Freeform 5" id="5"/>
            <p:cNvSpPr/>
            <p:nvPr/>
          </p:nvSpPr>
          <p:spPr>
            <a:xfrm flipH="false" flipV="false" rot="0">
              <a:off x="0" y="0"/>
              <a:ext cx="327938" cy="12543"/>
            </a:xfrm>
            <a:custGeom>
              <a:avLst/>
              <a:gdLst/>
              <a:ahLst/>
              <a:cxnLst/>
              <a:rect r="r" b="b" t="t" l="l"/>
              <a:pathLst>
                <a:path h="12543" w="327938">
                  <a:moveTo>
                    <a:pt x="0" y="0"/>
                  </a:moveTo>
                  <a:lnTo>
                    <a:pt x="327938" y="0"/>
                  </a:lnTo>
                  <a:lnTo>
                    <a:pt x="327938" y="12543"/>
                  </a:lnTo>
                  <a:lnTo>
                    <a:pt x="0" y="12543"/>
                  </a:lnTo>
                  <a:close/>
                </a:path>
              </a:pathLst>
            </a:custGeom>
            <a:solidFill>
              <a:srgbClr val="8F5B69"/>
            </a:solidFill>
          </p:spPr>
        </p:sp>
        <p:sp>
          <p:nvSpPr>
            <p:cNvPr name="TextBox 6" id="6"/>
            <p:cNvSpPr txBox="true"/>
            <p:nvPr/>
          </p:nvSpPr>
          <p:spPr>
            <a:xfrm>
              <a:off x="0" y="-38100"/>
              <a:ext cx="327938" cy="50643"/>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3013317" y="1028700"/>
            <a:ext cx="325026" cy="47625"/>
            <a:chOff x="0" y="0"/>
            <a:chExt cx="85604" cy="12543"/>
          </a:xfrm>
        </p:grpSpPr>
        <p:sp>
          <p:nvSpPr>
            <p:cNvPr name="Freeform 8" id="8"/>
            <p:cNvSpPr/>
            <p:nvPr/>
          </p:nvSpPr>
          <p:spPr>
            <a:xfrm flipH="false" flipV="false" rot="0">
              <a:off x="0" y="0"/>
              <a:ext cx="85604" cy="12543"/>
            </a:xfrm>
            <a:custGeom>
              <a:avLst/>
              <a:gdLst/>
              <a:ahLst/>
              <a:cxnLst/>
              <a:rect r="r" b="b" t="t" l="l"/>
              <a:pathLst>
                <a:path h="12543" w="85604">
                  <a:moveTo>
                    <a:pt x="0" y="0"/>
                  </a:moveTo>
                  <a:lnTo>
                    <a:pt x="85604" y="0"/>
                  </a:lnTo>
                  <a:lnTo>
                    <a:pt x="85604" y="12543"/>
                  </a:lnTo>
                  <a:lnTo>
                    <a:pt x="0" y="12543"/>
                  </a:lnTo>
                  <a:close/>
                </a:path>
              </a:pathLst>
            </a:custGeom>
            <a:solidFill>
              <a:srgbClr val="8F5B69"/>
            </a:solidFill>
          </p:spPr>
        </p:sp>
        <p:sp>
          <p:nvSpPr>
            <p:cNvPr name="TextBox 9" id="9"/>
            <p:cNvSpPr txBox="true"/>
            <p:nvPr/>
          </p:nvSpPr>
          <p:spPr>
            <a:xfrm>
              <a:off x="0" y="-38100"/>
              <a:ext cx="85604" cy="50643"/>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651271" y="1287120"/>
            <a:ext cx="5769512" cy="931599"/>
          </a:xfrm>
          <a:prstGeom prst="rect">
            <a:avLst/>
          </a:prstGeom>
        </p:spPr>
        <p:txBody>
          <a:bodyPr anchor="t" rtlCol="false" tIns="0" lIns="0" bIns="0" rIns="0">
            <a:spAutoFit/>
          </a:bodyPr>
          <a:lstStyle/>
          <a:p>
            <a:pPr algn="l">
              <a:lnSpc>
                <a:spcPts val="7440"/>
              </a:lnSpc>
            </a:pPr>
            <a:r>
              <a:rPr lang="en-US" sz="6000" b="true">
                <a:solidFill>
                  <a:srgbClr val="F4F2F1"/>
                </a:solidFill>
                <a:latin typeface="CMU Serif"/>
                <a:ea typeface="CMU Serif"/>
                <a:cs typeface="CMU Serif"/>
                <a:sym typeface="CMU Serif"/>
              </a:rPr>
              <a:t>Login Module</a:t>
            </a:r>
          </a:p>
        </p:txBody>
      </p:sp>
      <p:sp>
        <p:nvSpPr>
          <p:cNvPr name="TextBox 11" id="11"/>
          <p:cNvSpPr txBox="true"/>
          <p:nvPr/>
        </p:nvSpPr>
        <p:spPr>
          <a:xfrm rot="0">
            <a:off x="1651271" y="2658303"/>
            <a:ext cx="4817138" cy="5835435"/>
          </a:xfrm>
          <a:prstGeom prst="rect">
            <a:avLst/>
          </a:prstGeom>
        </p:spPr>
        <p:txBody>
          <a:bodyPr anchor="t" rtlCol="false" tIns="0" lIns="0" bIns="0" rIns="0">
            <a:spAutoFit/>
          </a:bodyPr>
          <a:lstStyle/>
          <a:p>
            <a:pPr algn="just">
              <a:lnSpc>
                <a:spcPts val="5120"/>
              </a:lnSpc>
              <a:spcBef>
                <a:spcPct val="0"/>
              </a:spcBef>
            </a:pPr>
            <a:r>
              <a:rPr lang="en-US" sz="3657">
                <a:solidFill>
                  <a:srgbClr val="F4F2F1"/>
                </a:solidFill>
                <a:latin typeface="Source Sans Pro"/>
                <a:ea typeface="Source Sans Pro"/>
                <a:cs typeface="Source Sans Pro"/>
                <a:sym typeface="Source Sans Pro"/>
              </a:rPr>
              <a:t>Prompts for username and password. Staff can press Enter to log in instantly. Valid credentials open the maximized main dashboard; invalid ones trigger a warning message.</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grpSp>
        <p:nvGrpSpPr>
          <p:cNvPr name="Group 2" id="2"/>
          <p:cNvGrpSpPr/>
          <p:nvPr/>
        </p:nvGrpSpPr>
        <p:grpSpPr>
          <a:xfrm rot="0">
            <a:off x="1651271" y="1028700"/>
            <a:ext cx="1245141" cy="47625"/>
            <a:chOff x="0" y="0"/>
            <a:chExt cx="327938" cy="12543"/>
          </a:xfrm>
        </p:grpSpPr>
        <p:sp>
          <p:nvSpPr>
            <p:cNvPr name="Freeform 3" id="3"/>
            <p:cNvSpPr/>
            <p:nvPr/>
          </p:nvSpPr>
          <p:spPr>
            <a:xfrm flipH="false" flipV="false" rot="0">
              <a:off x="0" y="0"/>
              <a:ext cx="327938" cy="12543"/>
            </a:xfrm>
            <a:custGeom>
              <a:avLst/>
              <a:gdLst/>
              <a:ahLst/>
              <a:cxnLst/>
              <a:rect r="r" b="b" t="t" l="l"/>
              <a:pathLst>
                <a:path h="12543" w="327938">
                  <a:moveTo>
                    <a:pt x="0" y="0"/>
                  </a:moveTo>
                  <a:lnTo>
                    <a:pt x="327938" y="0"/>
                  </a:lnTo>
                  <a:lnTo>
                    <a:pt x="327938" y="12543"/>
                  </a:lnTo>
                  <a:lnTo>
                    <a:pt x="0" y="12543"/>
                  </a:lnTo>
                  <a:close/>
                </a:path>
              </a:pathLst>
            </a:custGeom>
            <a:solidFill>
              <a:srgbClr val="8F5B69"/>
            </a:solidFill>
          </p:spPr>
        </p:sp>
        <p:sp>
          <p:nvSpPr>
            <p:cNvPr name="TextBox 4" id="4"/>
            <p:cNvSpPr txBox="true"/>
            <p:nvPr/>
          </p:nvSpPr>
          <p:spPr>
            <a:xfrm>
              <a:off x="0" y="-38100"/>
              <a:ext cx="327938" cy="5064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013317" y="1028700"/>
            <a:ext cx="325026" cy="47625"/>
            <a:chOff x="0" y="0"/>
            <a:chExt cx="85604" cy="12543"/>
          </a:xfrm>
        </p:grpSpPr>
        <p:sp>
          <p:nvSpPr>
            <p:cNvPr name="Freeform 6" id="6"/>
            <p:cNvSpPr/>
            <p:nvPr/>
          </p:nvSpPr>
          <p:spPr>
            <a:xfrm flipH="false" flipV="false" rot="0">
              <a:off x="0" y="0"/>
              <a:ext cx="85604" cy="12543"/>
            </a:xfrm>
            <a:custGeom>
              <a:avLst/>
              <a:gdLst/>
              <a:ahLst/>
              <a:cxnLst/>
              <a:rect r="r" b="b" t="t" l="l"/>
              <a:pathLst>
                <a:path h="12543" w="85604">
                  <a:moveTo>
                    <a:pt x="0" y="0"/>
                  </a:moveTo>
                  <a:lnTo>
                    <a:pt x="85604" y="0"/>
                  </a:lnTo>
                  <a:lnTo>
                    <a:pt x="85604" y="12543"/>
                  </a:lnTo>
                  <a:lnTo>
                    <a:pt x="0" y="12543"/>
                  </a:lnTo>
                  <a:close/>
                </a:path>
              </a:pathLst>
            </a:custGeom>
            <a:solidFill>
              <a:srgbClr val="8F5B69"/>
            </a:solidFill>
          </p:spPr>
        </p:sp>
        <p:sp>
          <p:nvSpPr>
            <p:cNvPr name="TextBox 7" id="7"/>
            <p:cNvSpPr txBox="true"/>
            <p:nvPr/>
          </p:nvSpPr>
          <p:spPr>
            <a:xfrm>
              <a:off x="0" y="-38100"/>
              <a:ext cx="85604" cy="5064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5675141" y="2706148"/>
            <a:ext cx="12216353" cy="7125075"/>
          </a:xfrm>
          <a:custGeom>
            <a:avLst/>
            <a:gdLst/>
            <a:ahLst/>
            <a:cxnLst/>
            <a:rect r="r" b="b" t="t" l="l"/>
            <a:pathLst>
              <a:path h="7125075" w="12216353">
                <a:moveTo>
                  <a:pt x="0" y="0"/>
                </a:moveTo>
                <a:lnTo>
                  <a:pt x="12216353" y="0"/>
                </a:lnTo>
                <a:lnTo>
                  <a:pt x="12216353" y="7125075"/>
                </a:lnTo>
                <a:lnTo>
                  <a:pt x="0" y="7125075"/>
                </a:lnTo>
                <a:lnTo>
                  <a:pt x="0" y="0"/>
                </a:lnTo>
                <a:close/>
              </a:path>
            </a:pathLst>
          </a:custGeom>
          <a:blipFill>
            <a:blip r:embed="rId2"/>
            <a:stretch>
              <a:fillRect l="-1843" t="0" r="-1843" b="0"/>
            </a:stretch>
          </a:blipFill>
        </p:spPr>
      </p:sp>
      <p:sp>
        <p:nvSpPr>
          <p:cNvPr name="TextBox 9" id="9"/>
          <p:cNvSpPr txBox="true"/>
          <p:nvPr/>
        </p:nvSpPr>
        <p:spPr>
          <a:xfrm rot="0">
            <a:off x="1651271" y="1287120"/>
            <a:ext cx="8438310" cy="931599"/>
          </a:xfrm>
          <a:prstGeom prst="rect">
            <a:avLst/>
          </a:prstGeom>
        </p:spPr>
        <p:txBody>
          <a:bodyPr anchor="t" rtlCol="false" tIns="0" lIns="0" bIns="0" rIns="0">
            <a:spAutoFit/>
          </a:bodyPr>
          <a:lstStyle/>
          <a:p>
            <a:pPr algn="l">
              <a:lnSpc>
                <a:spcPts val="7440"/>
              </a:lnSpc>
            </a:pPr>
            <a:r>
              <a:rPr lang="en-US" sz="6000" b="true">
                <a:solidFill>
                  <a:srgbClr val="F4F2F1"/>
                </a:solidFill>
                <a:latin typeface="CMU Serif"/>
                <a:ea typeface="CMU Serif"/>
                <a:cs typeface="CMU Serif"/>
                <a:sym typeface="CMU Serif"/>
              </a:rPr>
              <a:t>New Booking Module</a:t>
            </a:r>
          </a:p>
        </p:txBody>
      </p:sp>
      <p:sp>
        <p:nvSpPr>
          <p:cNvPr name="TextBox 10" id="10"/>
          <p:cNvSpPr txBox="true"/>
          <p:nvPr/>
        </p:nvSpPr>
        <p:spPr>
          <a:xfrm rot="0">
            <a:off x="665949" y="3020506"/>
            <a:ext cx="4513201" cy="6484613"/>
          </a:xfrm>
          <a:prstGeom prst="rect">
            <a:avLst/>
          </a:prstGeom>
        </p:spPr>
        <p:txBody>
          <a:bodyPr anchor="t" rtlCol="false" tIns="0" lIns="0" bIns="0" rIns="0">
            <a:spAutoFit/>
          </a:bodyPr>
          <a:lstStyle/>
          <a:p>
            <a:pPr algn="just">
              <a:lnSpc>
                <a:spcPts val="5120"/>
              </a:lnSpc>
              <a:spcBef>
                <a:spcPct val="0"/>
              </a:spcBef>
            </a:pPr>
            <a:r>
              <a:rPr lang="en-US" sz="3657">
                <a:solidFill>
                  <a:srgbClr val="F4F2F1"/>
                </a:solidFill>
                <a:latin typeface="Source Sans Pro"/>
                <a:ea typeface="Source Sans Pro"/>
                <a:cs typeface="Source Sans Pro"/>
                <a:sym typeface="Source Sans Pro"/>
              </a:rPr>
              <a:t>Staff fill out a guest form with a search button to find returning customers quickly. They can enter guest count, select room types, check a box for Senior or PWD discounts, and view the total amount due.</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grpSp>
        <p:nvGrpSpPr>
          <p:cNvPr name="Group 2" id="2"/>
          <p:cNvGrpSpPr/>
          <p:nvPr/>
        </p:nvGrpSpPr>
        <p:grpSpPr>
          <a:xfrm rot="0">
            <a:off x="1651271" y="1028700"/>
            <a:ext cx="1245141" cy="47625"/>
            <a:chOff x="0" y="0"/>
            <a:chExt cx="327938" cy="12543"/>
          </a:xfrm>
        </p:grpSpPr>
        <p:sp>
          <p:nvSpPr>
            <p:cNvPr name="Freeform 3" id="3"/>
            <p:cNvSpPr/>
            <p:nvPr/>
          </p:nvSpPr>
          <p:spPr>
            <a:xfrm flipH="false" flipV="false" rot="0">
              <a:off x="0" y="0"/>
              <a:ext cx="327938" cy="12543"/>
            </a:xfrm>
            <a:custGeom>
              <a:avLst/>
              <a:gdLst/>
              <a:ahLst/>
              <a:cxnLst/>
              <a:rect r="r" b="b" t="t" l="l"/>
              <a:pathLst>
                <a:path h="12543" w="327938">
                  <a:moveTo>
                    <a:pt x="0" y="0"/>
                  </a:moveTo>
                  <a:lnTo>
                    <a:pt x="327938" y="0"/>
                  </a:lnTo>
                  <a:lnTo>
                    <a:pt x="327938" y="12543"/>
                  </a:lnTo>
                  <a:lnTo>
                    <a:pt x="0" y="12543"/>
                  </a:lnTo>
                  <a:close/>
                </a:path>
              </a:pathLst>
            </a:custGeom>
            <a:solidFill>
              <a:srgbClr val="8F5B69"/>
            </a:solidFill>
          </p:spPr>
        </p:sp>
        <p:sp>
          <p:nvSpPr>
            <p:cNvPr name="TextBox 4" id="4"/>
            <p:cNvSpPr txBox="true"/>
            <p:nvPr/>
          </p:nvSpPr>
          <p:spPr>
            <a:xfrm>
              <a:off x="0" y="-38100"/>
              <a:ext cx="327938" cy="5064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013317" y="1028700"/>
            <a:ext cx="325026" cy="47625"/>
            <a:chOff x="0" y="0"/>
            <a:chExt cx="85604" cy="12543"/>
          </a:xfrm>
        </p:grpSpPr>
        <p:sp>
          <p:nvSpPr>
            <p:cNvPr name="Freeform 6" id="6"/>
            <p:cNvSpPr/>
            <p:nvPr/>
          </p:nvSpPr>
          <p:spPr>
            <a:xfrm flipH="false" flipV="false" rot="0">
              <a:off x="0" y="0"/>
              <a:ext cx="85604" cy="12543"/>
            </a:xfrm>
            <a:custGeom>
              <a:avLst/>
              <a:gdLst/>
              <a:ahLst/>
              <a:cxnLst/>
              <a:rect r="r" b="b" t="t" l="l"/>
              <a:pathLst>
                <a:path h="12543" w="85604">
                  <a:moveTo>
                    <a:pt x="0" y="0"/>
                  </a:moveTo>
                  <a:lnTo>
                    <a:pt x="85604" y="0"/>
                  </a:lnTo>
                  <a:lnTo>
                    <a:pt x="85604" y="12543"/>
                  </a:lnTo>
                  <a:lnTo>
                    <a:pt x="0" y="12543"/>
                  </a:lnTo>
                  <a:close/>
                </a:path>
              </a:pathLst>
            </a:custGeom>
            <a:solidFill>
              <a:srgbClr val="8F5B69"/>
            </a:solidFill>
          </p:spPr>
        </p:sp>
        <p:sp>
          <p:nvSpPr>
            <p:cNvPr name="TextBox 7" id="7"/>
            <p:cNvSpPr txBox="true"/>
            <p:nvPr/>
          </p:nvSpPr>
          <p:spPr>
            <a:xfrm>
              <a:off x="0" y="-38100"/>
              <a:ext cx="85604" cy="5064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5432691" y="2588238"/>
            <a:ext cx="12502057" cy="7032407"/>
          </a:xfrm>
          <a:custGeom>
            <a:avLst/>
            <a:gdLst/>
            <a:ahLst/>
            <a:cxnLst/>
            <a:rect r="r" b="b" t="t" l="l"/>
            <a:pathLst>
              <a:path h="7032407" w="12502057">
                <a:moveTo>
                  <a:pt x="0" y="0"/>
                </a:moveTo>
                <a:lnTo>
                  <a:pt x="12502057" y="0"/>
                </a:lnTo>
                <a:lnTo>
                  <a:pt x="12502057" y="7032407"/>
                </a:lnTo>
                <a:lnTo>
                  <a:pt x="0" y="7032407"/>
                </a:lnTo>
                <a:lnTo>
                  <a:pt x="0" y="0"/>
                </a:lnTo>
                <a:close/>
              </a:path>
            </a:pathLst>
          </a:custGeom>
          <a:blipFill>
            <a:blip r:embed="rId2"/>
            <a:stretch>
              <a:fillRect l="0" t="0" r="0" b="0"/>
            </a:stretch>
          </a:blipFill>
        </p:spPr>
      </p:sp>
      <p:sp>
        <p:nvSpPr>
          <p:cNvPr name="TextBox 9" id="9"/>
          <p:cNvSpPr txBox="true"/>
          <p:nvPr/>
        </p:nvSpPr>
        <p:spPr>
          <a:xfrm rot="0">
            <a:off x="1651271" y="1287120"/>
            <a:ext cx="10272952" cy="931599"/>
          </a:xfrm>
          <a:prstGeom prst="rect">
            <a:avLst/>
          </a:prstGeom>
        </p:spPr>
        <p:txBody>
          <a:bodyPr anchor="t" rtlCol="false" tIns="0" lIns="0" bIns="0" rIns="0">
            <a:spAutoFit/>
          </a:bodyPr>
          <a:lstStyle/>
          <a:p>
            <a:pPr algn="l">
              <a:lnSpc>
                <a:spcPts val="7440"/>
              </a:lnSpc>
            </a:pPr>
            <a:r>
              <a:rPr lang="en-US" sz="6000" b="true">
                <a:solidFill>
                  <a:srgbClr val="F4F2F1"/>
                </a:solidFill>
                <a:latin typeface="CMU Serif"/>
                <a:ea typeface="CMU Serif"/>
                <a:cs typeface="CMU Serif"/>
                <a:sym typeface="CMU Serif"/>
              </a:rPr>
              <a:t>Room Availability Module</a:t>
            </a:r>
          </a:p>
        </p:txBody>
      </p:sp>
      <p:sp>
        <p:nvSpPr>
          <p:cNvPr name="TextBox 10" id="10"/>
          <p:cNvSpPr txBox="true"/>
          <p:nvPr/>
        </p:nvSpPr>
        <p:spPr>
          <a:xfrm rot="0">
            <a:off x="961930" y="3093499"/>
            <a:ext cx="3497484" cy="6084083"/>
          </a:xfrm>
          <a:prstGeom prst="rect">
            <a:avLst/>
          </a:prstGeom>
        </p:spPr>
        <p:txBody>
          <a:bodyPr anchor="t" rtlCol="false" tIns="0" lIns="0" bIns="0" rIns="0">
            <a:spAutoFit/>
          </a:bodyPr>
          <a:lstStyle/>
          <a:p>
            <a:pPr algn="just">
              <a:lnSpc>
                <a:spcPts val="5350"/>
              </a:lnSpc>
              <a:spcBef>
                <a:spcPct val="0"/>
              </a:spcBef>
            </a:pPr>
            <a:r>
              <a:rPr lang="en-US" sz="3821">
                <a:solidFill>
                  <a:srgbClr val="F4F2F1"/>
                </a:solidFill>
                <a:latin typeface="Source Sans Pro"/>
                <a:ea typeface="Source Sans Pro"/>
                <a:cs typeface="Source Sans Pro"/>
                <a:sym typeface="Source Sans Pro"/>
              </a:rPr>
              <a:t>A read-only table listing every room. Includes a Refresh button and auto-sorts by status: Occupied, then Reserved, then Available.</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grpSp>
        <p:nvGrpSpPr>
          <p:cNvPr name="Group 2" id="2"/>
          <p:cNvGrpSpPr/>
          <p:nvPr/>
        </p:nvGrpSpPr>
        <p:grpSpPr>
          <a:xfrm rot="0">
            <a:off x="1651271" y="1028700"/>
            <a:ext cx="1245141" cy="47625"/>
            <a:chOff x="0" y="0"/>
            <a:chExt cx="327938" cy="12543"/>
          </a:xfrm>
        </p:grpSpPr>
        <p:sp>
          <p:nvSpPr>
            <p:cNvPr name="Freeform 3" id="3"/>
            <p:cNvSpPr/>
            <p:nvPr/>
          </p:nvSpPr>
          <p:spPr>
            <a:xfrm flipH="false" flipV="false" rot="0">
              <a:off x="0" y="0"/>
              <a:ext cx="327938" cy="12543"/>
            </a:xfrm>
            <a:custGeom>
              <a:avLst/>
              <a:gdLst/>
              <a:ahLst/>
              <a:cxnLst/>
              <a:rect r="r" b="b" t="t" l="l"/>
              <a:pathLst>
                <a:path h="12543" w="327938">
                  <a:moveTo>
                    <a:pt x="0" y="0"/>
                  </a:moveTo>
                  <a:lnTo>
                    <a:pt x="327938" y="0"/>
                  </a:lnTo>
                  <a:lnTo>
                    <a:pt x="327938" y="12543"/>
                  </a:lnTo>
                  <a:lnTo>
                    <a:pt x="0" y="12543"/>
                  </a:lnTo>
                  <a:close/>
                </a:path>
              </a:pathLst>
            </a:custGeom>
            <a:solidFill>
              <a:srgbClr val="8F5B69"/>
            </a:solidFill>
          </p:spPr>
        </p:sp>
        <p:sp>
          <p:nvSpPr>
            <p:cNvPr name="TextBox 4" id="4"/>
            <p:cNvSpPr txBox="true"/>
            <p:nvPr/>
          </p:nvSpPr>
          <p:spPr>
            <a:xfrm>
              <a:off x="0" y="-38100"/>
              <a:ext cx="327938" cy="5064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013317" y="1028700"/>
            <a:ext cx="325026" cy="47625"/>
            <a:chOff x="0" y="0"/>
            <a:chExt cx="85604" cy="12543"/>
          </a:xfrm>
        </p:grpSpPr>
        <p:sp>
          <p:nvSpPr>
            <p:cNvPr name="Freeform 6" id="6"/>
            <p:cNvSpPr/>
            <p:nvPr/>
          </p:nvSpPr>
          <p:spPr>
            <a:xfrm flipH="false" flipV="false" rot="0">
              <a:off x="0" y="0"/>
              <a:ext cx="85604" cy="12543"/>
            </a:xfrm>
            <a:custGeom>
              <a:avLst/>
              <a:gdLst/>
              <a:ahLst/>
              <a:cxnLst/>
              <a:rect r="r" b="b" t="t" l="l"/>
              <a:pathLst>
                <a:path h="12543" w="85604">
                  <a:moveTo>
                    <a:pt x="0" y="0"/>
                  </a:moveTo>
                  <a:lnTo>
                    <a:pt x="85604" y="0"/>
                  </a:lnTo>
                  <a:lnTo>
                    <a:pt x="85604" y="12543"/>
                  </a:lnTo>
                  <a:lnTo>
                    <a:pt x="0" y="12543"/>
                  </a:lnTo>
                  <a:close/>
                </a:path>
              </a:pathLst>
            </a:custGeom>
            <a:solidFill>
              <a:srgbClr val="8F5B69"/>
            </a:solidFill>
          </p:spPr>
        </p:sp>
        <p:sp>
          <p:nvSpPr>
            <p:cNvPr name="TextBox 7" id="7"/>
            <p:cNvSpPr txBox="true"/>
            <p:nvPr/>
          </p:nvSpPr>
          <p:spPr>
            <a:xfrm>
              <a:off x="0" y="-38100"/>
              <a:ext cx="85604" cy="5064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5581744" y="2482166"/>
            <a:ext cx="12422006" cy="6987379"/>
          </a:xfrm>
          <a:custGeom>
            <a:avLst/>
            <a:gdLst/>
            <a:ahLst/>
            <a:cxnLst/>
            <a:rect r="r" b="b" t="t" l="l"/>
            <a:pathLst>
              <a:path h="6987379" w="12422006">
                <a:moveTo>
                  <a:pt x="0" y="0"/>
                </a:moveTo>
                <a:lnTo>
                  <a:pt x="12422007" y="0"/>
                </a:lnTo>
                <a:lnTo>
                  <a:pt x="12422007" y="6987379"/>
                </a:lnTo>
                <a:lnTo>
                  <a:pt x="0" y="6987379"/>
                </a:lnTo>
                <a:lnTo>
                  <a:pt x="0" y="0"/>
                </a:lnTo>
                <a:close/>
              </a:path>
            </a:pathLst>
          </a:custGeom>
          <a:blipFill>
            <a:blip r:embed="rId2"/>
            <a:stretch>
              <a:fillRect l="0" t="0" r="0" b="0"/>
            </a:stretch>
          </a:blipFill>
        </p:spPr>
      </p:sp>
      <p:sp>
        <p:nvSpPr>
          <p:cNvPr name="TextBox 9" id="9"/>
          <p:cNvSpPr txBox="true"/>
          <p:nvPr/>
        </p:nvSpPr>
        <p:spPr>
          <a:xfrm rot="0">
            <a:off x="1651271" y="1287120"/>
            <a:ext cx="10272952" cy="931599"/>
          </a:xfrm>
          <a:prstGeom prst="rect">
            <a:avLst/>
          </a:prstGeom>
        </p:spPr>
        <p:txBody>
          <a:bodyPr anchor="t" rtlCol="false" tIns="0" lIns="0" bIns="0" rIns="0">
            <a:spAutoFit/>
          </a:bodyPr>
          <a:lstStyle/>
          <a:p>
            <a:pPr algn="l">
              <a:lnSpc>
                <a:spcPts val="7440"/>
              </a:lnSpc>
            </a:pPr>
            <a:r>
              <a:rPr lang="en-US" sz="6000" b="true">
                <a:solidFill>
                  <a:srgbClr val="F4F2F1"/>
                </a:solidFill>
                <a:latin typeface="CMU Serif"/>
                <a:ea typeface="CMU Serif"/>
                <a:cs typeface="CMU Serif"/>
                <a:sym typeface="CMU Serif"/>
              </a:rPr>
              <a:t>Room Availability Module</a:t>
            </a:r>
          </a:p>
        </p:txBody>
      </p:sp>
      <p:sp>
        <p:nvSpPr>
          <p:cNvPr name="TextBox 10" id="10"/>
          <p:cNvSpPr txBox="true"/>
          <p:nvPr/>
        </p:nvSpPr>
        <p:spPr>
          <a:xfrm rot="0">
            <a:off x="407064" y="2603810"/>
            <a:ext cx="4978696" cy="6677415"/>
          </a:xfrm>
          <a:prstGeom prst="rect">
            <a:avLst/>
          </a:prstGeom>
        </p:spPr>
        <p:txBody>
          <a:bodyPr anchor="t" rtlCol="false" tIns="0" lIns="0" bIns="0" rIns="0">
            <a:spAutoFit/>
          </a:bodyPr>
          <a:lstStyle/>
          <a:p>
            <a:pPr algn="just">
              <a:lnSpc>
                <a:spcPts val="4802"/>
              </a:lnSpc>
              <a:spcBef>
                <a:spcPct val="0"/>
              </a:spcBef>
            </a:pPr>
            <a:r>
              <a:rPr lang="en-US" sz="3430">
                <a:solidFill>
                  <a:srgbClr val="F4F2F1"/>
                </a:solidFill>
                <a:latin typeface="Source Sans Pro"/>
                <a:ea typeface="Source Sans Pro"/>
                <a:cs typeface="Source Sans Pro"/>
                <a:sym typeface="Source Sans Pro"/>
              </a:rPr>
              <a:t>A table of all reservations with buttons to Check-In, Check-Out, or Cancel. Advanced options include Extend Stay, Upgrade Room, and Reschedule (which adds a 15% charge). A Filter dialog lets staff Apply or Clear filters by Status, Payment, or Room Type.</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grpSp>
        <p:nvGrpSpPr>
          <p:cNvPr name="Group 2" id="2"/>
          <p:cNvGrpSpPr/>
          <p:nvPr/>
        </p:nvGrpSpPr>
        <p:grpSpPr>
          <a:xfrm rot="0">
            <a:off x="1651271" y="1028700"/>
            <a:ext cx="1245141" cy="47625"/>
            <a:chOff x="0" y="0"/>
            <a:chExt cx="327938" cy="12543"/>
          </a:xfrm>
        </p:grpSpPr>
        <p:sp>
          <p:nvSpPr>
            <p:cNvPr name="Freeform 3" id="3"/>
            <p:cNvSpPr/>
            <p:nvPr/>
          </p:nvSpPr>
          <p:spPr>
            <a:xfrm flipH="false" flipV="false" rot="0">
              <a:off x="0" y="0"/>
              <a:ext cx="327938" cy="12543"/>
            </a:xfrm>
            <a:custGeom>
              <a:avLst/>
              <a:gdLst/>
              <a:ahLst/>
              <a:cxnLst/>
              <a:rect r="r" b="b" t="t" l="l"/>
              <a:pathLst>
                <a:path h="12543" w="327938">
                  <a:moveTo>
                    <a:pt x="0" y="0"/>
                  </a:moveTo>
                  <a:lnTo>
                    <a:pt x="327938" y="0"/>
                  </a:lnTo>
                  <a:lnTo>
                    <a:pt x="327938" y="12543"/>
                  </a:lnTo>
                  <a:lnTo>
                    <a:pt x="0" y="12543"/>
                  </a:lnTo>
                  <a:close/>
                </a:path>
              </a:pathLst>
            </a:custGeom>
            <a:solidFill>
              <a:srgbClr val="8F5B69"/>
            </a:solidFill>
          </p:spPr>
        </p:sp>
        <p:sp>
          <p:nvSpPr>
            <p:cNvPr name="TextBox 4" id="4"/>
            <p:cNvSpPr txBox="true"/>
            <p:nvPr/>
          </p:nvSpPr>
          <p:spPr>
            <a:xfrm>
              <a:off x="0" y="-38100"/>
              <a:ext cx="327938" cy="5064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013317" y="1028700"/>
            <a:ext cx="325026" cy="47625"/>
            <a:chOff x="0" y="0"/>
            <a:chExt cx="85604" cy="12543"/>
          </a:xfrm>
        </p:grpSpPr>
        <p:sp>
          <p:nvSpPr>
            <p:cNvPr name="Freeform 6" id="6"/>
            <p:cNvSpPr/>
            <p:nvPr/>
          </p:nvSpPr>
          <p:spPr>
            <a:xfrm flipH="false" flipV="false" rot="0">
              <a:off x="0" y="0"/>
              <a:ext cx="85604" cy="12543"/>
            </a:xfrm>
            <a:custGeom>
              <a:avLst/>
              <a:gdLst/>
              <a:ahLst/>
              <a:cxnLst/>
              <a:rect r="r" b="b" t="t" l="l"/>
              <a:pathLst>
                <a:path h="12543" w="85604">
                  <a:moveTo>
                    <a:pt x="0" y="0"/>
                  </a:moveTo>
                  <a:lnTo>
                    <a:pt x="85604" y="0"/>
                  </a:lnTo>
                  <a:lnTo>
                    <a:pt x="85604" y="12543"/>
                  </a:lnTo>
                  <a:lnTo>
                    <a:pt x="0" y="12543"/>
                  </a:lnTo>
                  <a:close/>
                </a:path>
              </a:pathLst>
            </a:custGeom>
            <a:solidFill>
              <a:srgbClr val="8F5B69"/>
            </a:solidFill>
          </p:spPr>
        </p:sp>
        <p:sp>
          <p:nvSpPr>
            <p:cNvPr name="TextBox 7" id="7"/>
            <p:cNvSpPr txBox="true"/>
            <p:nvPr/>
          </p:nvSpPr>
          <p:spPr>
            <a:xfrm>
              <a:off x="0" y="-38100"/>
              <a:ext cx="85604" cy="5064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94731" y="2651121"/>
            <a:ext cx="14021441" cy="6735050"/>
          </a:xfrm>
          <a:custGeom>
            <a:avLst/>
            <a:gdLst/>
            <a:ahLst/>
            <a:cxnLst/>
            <a:rect r="r" b="b" t="t" l="l"/>
            <a:pathLst>
              <a:path h="6735050" w="14021441">
                <a:moveTo>
                  <a:pt x="0" y="0"/>
                </a:moveTo>
                <a:lnTo>
                  <a:pt x="14021441" y="0"/>
                </a:lnTo>
                <a:lnTo>
                  <a:pt x="14021441" y="6735050"/>
                </a:lnTo>
                <a:lnTo>
                  <a:pt x="0" y="6735050"/>
                </a:lnTo>
                <a:lnTo>
                  <a:pt x="0" y="0"/>
                </a:lnTo>
                <a:close/>
              </a:path>
            </a:pathLst>
          </a:custGeom>
          <a:blipFill>
            <a:blip r:embed="rId2"/>
            <a:stretch>
              <a:fillRect l="0" t="0" r="-1373" b="-7896"/>
            </a:stretch>
          </a:blipFill>
        </p:spPr>
      </p:sp>
      <p:sp>
        <p:nvSpPr>
          <p:cNvPr name="TextBox 9" id="9"/>
          <p:cNvSpPr txBox="true"/>
          <p:nvPr/>
        </p:nvSpPr>
        <p:spPr>
          <a:xfrm rot="0">
            <a:off x="1651271" y="1287120"/>
            <a:ext cx="11308273" cy="931545"/>
          </a:xfrm>
          <a:prstGeom prst="rect">
            <a:avLst/>
          </a:prstGeom>
        </p:spPr>
        <p:txBody>
          <a:bodyPr anchor="t" rtlCol="false" tIns="0" lIns="0" bIns="0" rIns="0">
            <a:spAutoFit/>
          </a:bodyPr>
          <a:lstStyle/>
          <a:p>
            <a:pPr algn="l">
              <a:lnSpc>
                <a:spcPts val="7440"/>
              </a:lnSpc>
            </a:pPr>
            <a:r>
              <a:rPr lang="en-US" sz="6000" b="true">
                <a:solidFill>
                  <a:srgbClr val="F4F2F1"/>
                </a:solidFill>
                <a:latin typeface="CMU Serif"/>
                <a:ea typeface="CMU Serif"/>
                <a:cs typeface="CMU Serif"/>
                <a:sym typeface="CMU Serif"/>
              </a:rPr>
              <a:t>Sample JDBC Connection Code</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grpSp>
        <p:nvGrpSpPr>
          <p:cNvPr name="Group 2" id="2"/>
          <p:cNvGrpSpPr/>
          <p:nvPr/>
        </p:nvGrpSpPr>
        <p:grpSpPr>
          <a:xfrm rot="0">
            <a:off x="1651271" y="1028700"/>
            <a:ext cx="1245141" cy="47625"/>
            <a:chOff x="0" y="0"/>
            <a:chExt cx="327938" cy="12543"/>
          </a:xfrm>
        </p:grpSpPr>
        <p:sp>
          <p:nvSpPr>
            <p:cNvPr name="Freeform 3" id="3"/>
            <p:cNvSpPr/>
            <p:nvPr/>
          </p:nvSpPr>
          <p:spPr>
            <a:xfrm flipH="false" flipV="false" rot="0">
              <a:off x="0" y="0"/>
              <a:ext cx="327938" cy="12543"/>
            </a:xfrm>
            <a:custGeom>
              <a:avLst/>
              <a:gdLst/>
              <a:ahLst/>
              <a:cxnLst/>
              <a:rect r="r" b="b" t="t" l="l"/>
              <a:pathLst>
                <a:path h="12543" w="327938">
                  <a:moveTo>
                    <a:pt x="0" y="0"/>
                  </a:moveTo>
                  <a:lnTo>
                    <a:pt x="327938" y="0"/>
                  </a:lnTo>
                  <a:lnTo>
                    <a:pt x="327938" y="12543"/>
                  </a:lnTo>
                  <a:lnTo>
                    <a:pt x="0" y="12543"/>
                  </a:lnTo>
                  <a:close/>
                </a:path>
              </a:pathLst>
            </a:custGeom>
            <a:solidFill>
              <a:srgbClr val="8F5B69"/>
            </a:solidFill>
          </p:spPr>
        </p:sp>
        <p:sp>
          <p:nvSpPr>
            <p:cNvPr name="TextBox 4" id="4"/>
            <p:cNvSpPr txBox="true"/>
            <p:nvPr/>
          </p:nvSpPr>
          <p:spPr>
            <a:xfrm>
              <a:off x="0" y="-38100"/>
              <a:ext cx="327938" cy="5064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013317" y="1028700"/>
            <a:ext cx="325026" cy="47625"/>
            <a:chOff x="0" y="0"/>
            <a:chExt cx="85604" cy="12543"/>
          </a:xfrm>
        </p:grpSpPr>
        <p:sp>
          <p:nvSpPr>
            <p:cNvPr name="Freeform 6" id="6"/>
            <p:cNvSpPr/>
            <p:nvPr/>
          </p:nvSpPr>
          <p:spPr>
            <a:xfrm flipH="false" flipV="false" rot="0">
              <a:off x="0" y="0"/>
              <a:ext cx="85604" cy="12543"/>
            </a:xfrm>
            <a:custGeom>
              <a:avLst/>
              <a:gdLst/>
              <a:ahLst/>
              <a:cxnLst/>
              <a:rect r="r" b="b" t="t" l="l"/>
              <a:pathLst>
                <a:path h="12543" w="85604">
                  <a:moveTo>
                    <a:pt x="0" y="0"/>
                  </a:moveTo>
                  <a:lnTo>
                    <a:pt x="85604" y="0"/>
                  </a:lnTo>
                  <a:lnTo>
                    <a:pt x="85604" y="12543"/>
                  </a:lnTo>
                  <a:lnTo>
                    <a:pt x="0" y="12543"/>
                  </a:lnTo>
                  <a:close/>
                </a:path>
              </a:pathLst>
            </a:custGeom>
            <a:solidFill>
              <a:srgbClr val="8F5B69"/>
            </a:solidFill>
          </p:spPr>
        </p:sp>
        <p:sp>
          <p:nvSpPr>
            <p:cNvPr name="TextBox 7" id="7"/>
            <p:cNvSpPr txBox="true"/>
            <p:nvPr/>
          </p:nvSpPr>
          <p:spPr>
            <a:xfrm>
              <a:off x="0" y="-38100"/>
              <a:ext cx="85604" cy="5064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028700" y="2695747"/>
            <a:ext cx="16230600" cy="6562553"/>
          </a:xfrm>
          <a:custGeom>
            <a:avLst/>
            <a:gdLst/>
            <a:ahLst/>
            <a:cxnLst/>
            <a:rect r="r" b="b" t="t" l="l"/>
            <a:pathLst>
              <a:path h="6562553" w="16230600">
                <a:moveTo>
                  <a:pt x="0" y="0"/>
                </a:moveTo>
                <a:lnTo>
                  <a:pt x="16230600" y="0"/>
                </a:lnTo>
                <a:lnTo>
                  <a:pt x="16230600" y="6562553"/>
                </a:lnTo>
                <a:lnTo>
                  <a:pt x="0" y="6562553"/>
                </a:lnTo>
                <a:lnTo>
                  <a:pt x="0" y="0"/>
                </a:lnTo>
                <a:close/>
              </a:path>
            </a:pathLst>
          </a:custGeom>
          <a:blipFill>
            <a:blip r:embed="rId2"/>
            <a:stretch>
              <a:fillRect l="0" t="0" r="0" b="0"/>
            </a:stretch>
          </a:blipFill>
        </p:spPr>
      </p:sp>
      <p:sp>
        <p:nvSpPr>
          <p:cNvPr name="TextBox 9" id="9"/>
          <p:cNvSpPr txBox="true"/>
          <p:nvPr/>
        </p:nvSpPr>
        <p:spPr>
          <a:xfrm rot="0">
            <a:off x="1651271" y="1250098"/>
            <a:ext cx="11308273" cy="931545"/>
          </a:xfrm>
          <a:prstGeom prst="rect">
            <a:avLst/>
          </a:prstGeom>
        </p:spPr>
        <p:txBody>
          <a:bodyPr anchor="t" rtlCol="false" tIns="0" lIns="0" bIns="0" rIns="0">
            <a:spAutoFit/>
          </a:bodyPr>
          <a:lstStyle/>
          <a:p>
            <a:pPr algn="l">
              <a:lnSpc>
                <a:spcPts val="7440"/>
              </a:lnSpc>
            </a:pPr>
            <a:r>
              <a:rPr lang="en-US" sz="6000" b="true">
                <a:solidFill>
                  <a:srgbClr val="F4F2F1"/>
                </a:solidFill>
                <a:latin typeface="CMU Serif"/>
                <a:ea typeface="CMU Serif"/>
                <a:cs typeface="CMU Serif"/>
                <a:sym typeface="CMU Serif"/>
              </a:rPr>
              <a:t>Tables</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grpSp>
        <p:nvGrpSpPr>
          <p:cNvPr name="Group 2" id="2"/>
          <p:cNvGrpSpPr/>
          <p:nvPr/>
        </p:nvGrpSpPr>
        <p:grpSpPr>
          <a:xfrm rot="0">
            <a:off x="1651271" y="1028700"/>
            <a:ext cx="1245141" cy="47625"/>
            <a:chOff x="0" y="0"/>
            <a:chExt cx="327938" cy="12543"/>
          </a:xfrm>
        </p:grpSpPr>
        <p:sp>
          <p:nvSpPr>
            <p:cNvPr name="Freeform 3" id="3"/>
            <p:cNvSpPr/>
            <p:nvPr/>
          </p:nvSpPr>
          <p:spPr>
            <a:xfrm flipH="false" flipV="false" rot="0">
              <a:off x="0" y="0"/>
              <a:ext cx="327938" cy="12543"/>
            </a:xfrm>
            <a:custGeom>
              <a:avLst/>
              <a:gdLst/>
              <a:ahLst/>
              <a:cxnLst/>
              <a:rect r="r" b="b" t="t" l="l"/>
              <a:pathLst>
                <a:path h="12543" w="327938">
                  <a:moveTo>
                    <a:pt x="0" y="0"/>
                  </a:moveTo>
                  <a:lnTo>
                    <a:pt x="327938" y="0"/>
                  </a:lnTo>
                  <a:lnTo>
                    <a:pt x="327938" y="12543"/>
                  </a:lnTo>
                  <a:lnTo>
                    <a:pt x="0" y="12543"/>
                  </a:lnTo>
                  <a:close/>
                </a:path>
              </a:pathLst>
            </a:custGeom>
            <a:solidFill>
              <a:srgbClr val="8F5B69"/>
            </a:solidFill>
          </p:spPr>
        </p:sp>
        <p:sp>
          <p:nvSpPr>
            <p:cNvPr name="TextBox 4" id="4"/>
            <p:cNvSpPr txBox="true"/>
            <p:nvPr/>
          </p:nvSpPr>
          <p:spPr>
            <a:xfrm>
              <a:off x="0" y="-38100"/>
              <a:ext cx="327938" cy="5064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013317" y="1028700"/>
            <a:ext cx="325026" cy="47625"/>
            <a:chOff x="0" y="0"/>
            <a:chExt cx="85604" cy="12543"/>
          </a:xfrm>
        </p:grpSpPr>
        <p:sp>
          <p:nvSpPr>
            <p:cNvPr name="Freeform 6" id="6"/>
            <p:cNvSpPr/>
            <p:nvPr/>
          </p:nvSpPr>
          <p:spPr>
            <a:xfrm flipH="false" flipV="false" rot="0">
              <a:off x="0" y="0"/>
              <a:ext cx="85604" cy="12543"/>
            </a:xfrm>
            <a:custGeom>
              <a:avLst/>
              <a:gdLst/>
              <a:ahLst/>
              <a:cxnLst/>
              <a:rect r="r" b="b" t="t" l="l"/>
              <a:pathLst>
                <a:path h="12543" w="85604">
                  <a:moveTo>
                    <a:pt x="0" y="0"/>
                  </a:moveTo>
                  <a:lnTo>
                    <a:pt x="85604" y="0"/>
                  </a:lnTo>
                  <a:lnTo>
                    <a:pt x="85604" y="12543"/>
                  </a:lnTo>
                  <a:lnTo>
                    <a:pt x="0" y="12543"/>
                  </a:lnTo>
                  <a:close/>
                </a:path>
              </a:pathLst>
            </a:custGeom>
            <a:solidFill>
              <a:srgbClr val="8F5B69"/>
            </a:solidFill>
          </p:spPr>
        </p:sp>
        <p:sp>
          <p:nvSpPr>
            <p:cNvPr name="TextBox 7" id="7"/>
            <p:cNvSpPr txBox="true"/>
            <p:nvPr/>
          </p:nvSpPr>
          <p:spPr>
            <a:xfrm>
              <a:off x="0" y="-38100"/>
              <a:ext cx="85604" cy="5064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5371394" y="1269148"/>
            <a:ext cx="11455831" cy="8241054"/>
          </a:xfrm>
          <a:custGeom>
            <a:avLst/>
            <a:gdLst/>
            <a:ahLst/>
            <a:cxnLst/>
            <a:rect r="r" b="b" t="t" l="l"/>
            <a:pathLst>
              <a:path h="8241054" w="11455831">
                <a:moveTo>
                  <a:pt x="0" y="0"/>
                </a:moveTo>
                <a:lnTo>
                  <a:pt x="11455831" y="0"/>
                </a:lnTo>
                <a:lnTo>
                  <a:pt x="11455831" y="8241054"/>
                </a:lnTo>
                <a:lnTo>
                  <a:pt x="0" y="8241054"/>
                </a:lnTo>
                <a:lnTo>
                  <a:pt x="0" y="0"/>
                </a:lnTo>
                <a:close/>
              </a:path>
            </a:pathLst>
          </a:custGeom>
          <a:blipFill>
            <a:blip r:embed="rId2"/>
            <a:stretch>
              <a:fillRect l="0" t="0" r="0" b="0"/>
            </a:stretch>
          </a:blipFill>
        </p:spPr>
      </p:sp>
      <p:sp>
        <p:nvSpPr>
          <p:cNvPr name="TextBox 9" id="9"/>
          <p:cNvSpPr txBox="true"/>
          <p:nvPr/>
        </p:nvSpPr>
        <p:spPr>
          <a:xfrm rot="0">
            <a:off x="1651271" y="1250098"/>
            <a:ext cx="11308273" cy="931545"/>
          </a:xfrm>
          <a:prstGeom prst="rect">
            <a:avLst/>
          </a:prstGeom>
        </p:spPr>
        <p:txBody>
          <a:bodyPr anchor="t" rtlCol="false" tIns="0" lIns="0" bIns="0" rIns="0">
            <a:spAutoFit/>
          </a:bodyPr>
          <a:lstStyle/>
          <a:p>
            <a:pPr algn="l">
              <a:lnSpc>
                <a:spcPts val="7440"/>
              </a:lnSpc>
            </a:pPr>
            <a:r>
              <a:rPr lang="en-US" sz="6000" b="true">
                <a:solidFill>
                  <a:srgbClr val="F4F2F1"/>
                </a:solidFill>
                <a:latin typeface="CMU Serif"/>
                <a:ea typeface="CMU Serif"/>
                <a:cs typeface="CMU Serif"/>
                <a:sym typeface="CMU Serif"/>
              </a:rPr>
              <a:t>Tables</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grpSp>
        <p:nvGrpSpPr>
          <p:cNvPr name="Group 2" id="2"/>
          <p:cNvGrpSpPr/>
          <p:nvPr/>
        </p:nvGrpSpPr>
        <p:grpSpPr>
          <a:xfrm rot="0">
            <a:off x="3157414" y="5895930"/>
            <a:ext cx="5378641" cy="47625"/>
            <a:chOff x="0" y="0"/>
            <a:chExt cx="703575" cy="6230"/>
          </a:xfrm>
        </p:grpSpPr>
        <p:sp>
          <p:nvSpPr>
            <p:cNvPr name="Freeform 3" id="3"/>
            <p:cNvSpPr/>
            <p:nvPr/>
          </p:nvSpPr>
          <p:spPr>
            <a:xfrm flipH="false" flipV="false" rot="0">
              <a:off x="0" y="0"/>
              <a:ext cx="703575" cy="6230"/>
            </a:xfrm>
            <a:custGeom>
              <a:avLst/>
              <a:gdLst/>
              <a:ahLst/>
              <a:cxnLst/>
              <a:rect r="r" b="b" t="t" l="l"/>
              <a:pathLst>
                <a:path h="6230" w="703575">
                  <a:moveTo>
                    <a:pt x="0" y="0"/>
                  </a:moveTo>
                  <a:lnTo>
                    <a:pt x="703575" y="0"/>
                  </a:lnTo>
                  <a:lnTo>
                    <a:pt x="703575" y="6230"/>
                  </a:lnTo>
                  <a:lnTo>
                    <a:pt x="0" y="6230"/>
                  </a:lnTo>
                  <a:close/>
                </a:path>
              </a:pathLst>
            </a:custGeom>
            <a:solidFill>
              <a:srgbClr val="8F5B69"/>
            </a:solidFill>
          </p:spPr>
        </p:sp>
        <p:sp>
          <p:nvSpPr>
            <p:cNvPr name="TextBox 4" id="4"/>
            <p:cNvSpPr txBox="true"/>
            <p:nvPr/>
          </p:nvSpPr>
          <p:spPr>
            <a:xfrm>
              <a:off x="0" y="-38100"/>
              <a:ext cx="703575" cy="4433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4797279" y="-3959326"/>
            <a:ext cx="4640971" cy="9524909"/>
            <a:chOff x="0" y="0"/>
            <a:chExt cx="6187962" cy="12699879"/>
          </a:xfrm>
        </p:grpSpPr>
        <p:pic>
          <p:nvPicPr>
            <p:cNvPr name="Picture 6" id="6"/>
            <p:cNvPicPr>
              <a:picLocks noChangeAspect="true"/>
            </p:cNvPicPr>
            <p:nvPr/>
          </p:nvPicPr>
          <p:blipFill>
            <a:blip r:embed="rId2"/>
            <a:srcRect l="69735" t="3415" r="0" b="3415"/>
            <a:stretch>
              <a:fillRect/>
            </a:stretch>
          </p:blipFill>
          <p:spPr>
            <a:xfrm flipH="false" flipV="false">
              <a:off x="0" y="0"/>
              <a:ext cx="6187962" cy="12699879"/>
            </a:xfrm>
            <a:prstGeom prst="rect">
              <a:avLst/>
            </a:prstGeom>
          </p:spPr>
        </p:pic>
      </p:grpSp>
      <p:grpSp>
        <p:nvGrpSpPr>
          <p:cNvPr name="Group 7" id="7"/>
          <p:cNvGrpSpPr/>
          <p:nvPr/>
        </p:nvGrpSpPr>
        <p:grpSpPr>
          <a:xfrm rot="0">
            <a:off x="8959561" y="5895930"/>
            <a:ext cx="5922911" cy="47625"/>
            <a:chOff x="0" y="0"/>
            <a:chExt cx="774770" cy="6230"/>
          </a:xfrm>
        </p:grpSpPr>
        <p:sp>
          <p:nvSpPr>
            <p:cNvPr name="Freeform 8" id="8"/>
            <p:cNvSpPr/>
            <p:nvPr/>
          </p:nvSpPr>
          <p:spPr>
            <a:xfrm flipH="false" flipV="false" rot="0">
              <a:off x="0" y="0"/>
              <a:ext cx="774770" cy="6230"/>
            </a:xfrm>
            <a:custGeom>
              <a:avLst/>
              <a:gdLst/>
              <a:ahLst/>
              <a:cxnLst/>
              <a:rect r="r" b="b" t="t" l="l"/>
              <a:pathLst>
                <a:path h="6230" w="774770">
                  <a:moveTo>
                    <a:pt x="0" y="0"/>
                  </a:moveTo>
                  <a:lnTo>
                    <a:pt x="774770" y="0"/>
                  </a:lnTo>
                  <a:lnTo>
                    <a:pt x="774770" y="6230"/>
                  </a:lnTo>
                  <a:lnTo>
                    <a:pt x="0" y="6230"/>
                  </a:lnTo>
                  <a:close/>
                </a:path>
              </a:pathLst>
            </a:custGeom>
            <a:solidFill>
              <a:srgbClr val="8F5B69"/>
            </a:solidFill>
          </p:spPr>
        </p:sp>
        <p:sp>
          <p:nvSpPr>
            <p:cNvPr name="TextBox 9" id="9"/>
            <p:cNvSpPr txBox="true"/>
            <p:nvPr/>
          </p:nvSpPr>
          <p:spPr>
            <a:xfrm>
              <a:off x="0" y="-38100"/>
              <a:ext cx="774770" cy="4433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579418" y="5319617"/>
            <a:ext cx="5058211" cy="7041100"/>
            <a:chOff x="0" y="0"/>
            <a:chExt cx="6744282" cy="9388133"/>
          </a:xfrm>
        </p:grpSpPr>
        <p:pic>
          <p:nvPicPr>
            <p:cNvPr name="Picture 11" id="11"/>
            <p:cNvPicPr>
              <a:picLocks noChangeAspect="true"/>
            </p:cNvPicPr>
            <p:nvPr/>
          </p:nvPicPr>
          <p:blipFill>
            <a:blip r:embed="rId3"/>
            <a:srcRect l="857" t="0" r="48810" b="0"/>
            <a:stretch>
              <a:fillRect/>
            </a:stretch>
          </p:blipFill>
          <p:spPr>
            <a:xfrm flipH="false" flipV="false">
              <a:off x="0" y="0"/>
              <a:ext cx="6744282" cy="9388133"/>
            </a:xfrm>
            <a:prstGeom prst="rect">
              <a:avLst/>
            </a:prstGeom>
          </p:spPr>
        </p:pic>
      </p:grpSp>
      <p:sp>
        <p:nvSpPr>
          <p:cNvPr name="TextBox 12" id="12"/>
          <p:cNvSpPr txBox="true"/>
          <p:nvPr/>
        </p:nvSpPr>
        <p:spPr>
          <a:xfrm rot="0">
            <a:off x="2326242" y="4374101"/>
            <a:ext cx="13635516" cy="3110332"/>
          </a:xfrm>
          <a:prstGeom prst="rect">
            <a:avLst/>
          </a:prstGeom>
        </p:spPr>
        <p:txBody>
          <a:bodyPr anchor="t" rtlCol="false" tIns="0" lIns="0" bIns="0" rIns="0">
            <a:spAutoFit/>
          </a:bodyPr>
          <a:lstStyle/>
          <a:p>
            <a:pPr algn="ctr">
              <a:lnSpc>
                <a:spcPts val="12356"/>
              </a:lnSpc>
            </a:pPr>
            <a:r>
              <a:rPr lang="en-US" sz="9964" b="true">
                <a:solidFill>
                  <a:srgbClr val="F4F2F1"/>
                </a:solidFill>
                <a:latin typeface="CMU Serif"/>
                <a:ea typeface="CMU Serif"/>
                <a:cs typeface="CMU Serif"/>
                <a:sym typeface="CMU Serif"/>
              </a:rPr>
              <a:t>UML CLASS DIAGRAM</a:t>
            </a:r>
          </a:p>
        </p:txBody>
      </p:sp>
      <p:grpSp>
        <p:nvGrpSpPr>
          <p:cNvPr name="Group 13" id="13"/>
          <p:cNvGrpSpPr/>
          <p:nvPr/>
        </p:nvGrpSpPr>
        <p:grpSpPr>
          <a:xfrm rot="0">
            <a:off x="-41190" y="-669779"/>
            <a:ext cx="7039968" cy="4649687"/>
            <a:chOff x="0" y="0"/>
            <a:chExt cx="9386624" cy="6199583"/>
          </a:xfrm>
        </p:grpSpPr>
        <p:pic>
          <p:nvPicPr>
            <p:cNvPr name="Picture 14" id="14"/>
            <p:cNvPicPr>
              <a:picLocks noChangeAspect="true"/>
            </p:cNvPicPr>
            <p:nvPr/>
          </p:nvPicPr>
          <p:blipFill>
            <a:blip r:embed="rId4"/>
            <a:srcRect l="0" t="24375" r="0" b="9577"/>
            <a:stretch>
              <a:fillRect/>
            </a:stretch>
          </p:blipFill>
          <p:spPr>
            <a:xfrm flipH="false" flipV="false">
              <a:off x="0" y="0"/>
              <a:ext cx="9386624" cy="6199583"/>
            </a:xfrm>
            <a:prstGeom prst="rect">
              <a:avLst/>
            </a:prstGeom>
          </p:spPr>
        </p:pic>
      </p:grpSp>
      <p:grpSp>
        <p:nvGrpSpPr>
          <p:cNvPr name="Group 15" id="15"/>
          <p:cNvGrpSpPr/>
          <p:nvPr/>
        </p:nvGrpSpPr>
        <p:grpSpPr>
          <a:xfrm rot="0">
            <a:off x="10401017" y="7465151"/>
            <a:ext cx="7886983" cy="4324643"/>
            <a:chOff x="0" y="0"/>
            <a:chExt cx="10515977" cy="5766191"/>
          </a:xfrm>
        </p:grpSpPr>
        <p:pic>
          <p:nvPicPr>
            <p:cNvPr name="Picture 16" id="16"/>
            <p:cNvPicPr>
              <a:picLocks noChangeAspect="true"/>
            </p:cNvPicPr>
            <p:nvPr/>
          </p:nvPicPr>
          <p:blipFill>
            <a:blip r:embed="rId5"/>
            <a:srcRect l="10028" t="20336" r="0" b="5662"/>
            <a:stretch>
              <a:fillRect/>
            </a:stretch>
          </p:blipFill>
          <p:spPr>
            <a:xfrm flipH="false" flipV="false">
              <a:off x="0" y="0"/>
              <a:ext cx="10515977" cy="5766191"/>
            </a:xfrm>
            <a:prstGeom prst="rect">
              <a:avLst/>
            </a:prstGeom>
          </p:spPr>
        </p:pic>
      </p:gr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sp>
        <p:nvSpPr>
          <p:cNvPr name="Freeform 2" id="2"/>
          <p:cNvSpPr/>
          <p:nvPr/>
        </p:nvSpPr>
        <p:spPr>
          <a:xfrm flipH="false" flipV="false" rot="0">
            <a:off x="3127637" y="375532"/>
            <a:ext cx="12032726" cy="9535936"/>
          </a:xfrm>
          <a:custGeom>
            <a:avLst/>
            <a:gdLst/>
            <a:ahLst/>
            <a:cxnLst/>
            <a:rect r="r" b="b" t="t" l="l"/>
            <a:pathLst>
              <a:path h="9535936" w="12032726">
                <a:moveTo>
                  <a:pt x="0" y="0"/>
                </a:moveTo>
                <a:lnTo>
                  <a:pt x="12032726" y="0"/>
                </a:lnTo>
                <a:lnTo>
                  <a:pt x="12032726" y="9535936"/>
                </a:lnTo>
                <a:lnTo>
                  <a:pt x="0" y="9535936"/>
                </a:lnTo>
                <a:lnTo>
                  <a:pt x="0" y="0"/>
                </a:lnTo>
                <a:close/>
              </a:path>
            </a:pathLst>
          </a:custGeom>
          <a:blipFill>
            <a:blip r:embed="rId2"/>
            <a:stretch>
              <a:fillRect l="0" t="0" r="0" b="0"/>
            </a:stretch>
          </a:blipFill>
        </p:spPr>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grpSp>
        <p:nvGrpSpPr>
          <p:cNvPr name="Group 2" id="2"/>
          <p:cNvGrpSpPr/>
          <p:nvPr/>
        </p:nvGrpSpPr>
        <p:grpSpPr>
          <a:xfrm rot="0">
            <a:off x="3157414" y="5895930"/>
            <a:ext cx="5378641" cy="47625"/>
            <a:chOff x="0" y="0"/>
            <a:chExt cx="703575" cy="6230"/>
          </a:xfrm>
        </p:grpSpPr>
        <p:sp>
          <p:nvSpPr>
            <p:cNvPr name="Freeform 3" id="3"/>
            <p:cNvSpPr/>
            <p:nvPr/>
          </p:nvSpPr>
          <p:spPr>
            <a:xfrm flipH="false" flipV="false" rot="0">
              <a:off x="0" y="0"/>
              <a:ext cx="703575" cy="6230"/>
            </a:xfrm>
            <a:custGeom>
              <a:avLst/>
              <a:gdLst/>
              <a:ahLst/>
              <a:cxnLst/>
              <a:rect r="r" b="b" t="t" l="l"/>
              <a:pathLst>
                <a:path h="6230" w="703575">
                  <a:moveTo>
                    <a:pt x="0" y="0"/>
                  </a:moveTo>
                  <a:lnTo>
                    <a:pt x="703575" y="0"/>
                  </a:lnTo>
                  <a:lnTo>
                    <a:pt x="703575" y="6230"/>
                  </a:lnTo>
                  <a:lnTo>
                    <a:pt x="0" y="6230"/>
                  </a:lnTo>
                  <a:close/>
                </a:path>
              </a:pathLst>
            </a:custGeom>
            <a:solidFill>
              <a:srgbClr val="8F5B69"/>
            </a:solidFill>
          </p:spPr>
        </p:sp>
        <p:sp>
          <p:nvSpPr>
            <p:cNvPr name="TextBox 4" id="4"/>
            <p:cNvSpPr txBox="true"/>
            <p:nvPr/>
          </p:nvSpPr>
          <p:spPr>
            <a:xfrm>
              <a:off x="0" y="-38100"/>
              <a:ext cx="703575" cy="4433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4797279" y="-3959326"/>
            <a:ext cx="4640971" cy="9524909"/>
            <a:chOff x="0" y="0"/>
            <a:chExt cx="6187962" cy="12699879"/>
          </a:xfrm>
        </p:grpSpPr>
        <p:pic>
          <p:nvPicPr>
            <p:cNvPr name="Picture 6" id="6"/>
            <p:cNvPicPr>
              <a:picLocks noChangeAspect="true"/>
            </p:cNvPicPr>
            <p:nvPr/>
          </p:nvPicPr>
          <p:blipFill>
            <a:blip r:embed="rId2"/>
            <a:srcRect l="69735" t="3415" r="0" b="3415"/>
            <a:stretch>
              <a:fillRect/>
            </a:stretch>
          </p:blipFill>
          <p:spPr>
            <a:xfrm flipH="false" flipV="false">
              <a:off x="0" y="0"/>
              <a:ext cx="6187962" cy="12699879"/>
            </a:xfrm>
            <a:prstGeom prst="rect">
              <a:avLst/>
            </a:prstGeom>
          </p:spPr>
        </p:pic>
      </p:grpSp>
      <p:grpSp>
        <p:nvGrpSpPr>
          <p:cNvPr name="Group 7" id="7"/>
          <p:cNvGrpSpPr/>
          <p:nvPr/>
        </p:nvGrpSpPr>
        <p:grpSpPr>
          <a:xfrm rot="0">
            <a:off x="8959561" y="5895930"/>
            <a:ext cx="5922911" cy="47625"/>
            <a:chOff x="0" y="0"/>
            <a:chExt cx="774770" cy="6230"/>
          </a:xfrm>
        </p:grpSpPr>
        <p:sp>
          <p:nvSpPr>
            <p:cNvPr name="Freeform 8" id="8"/>
            <p:cNvSpPr/>
            <p:nvPr/>
          </p:nvSpPr>
          <p:spPr>
            <a:xfrm flipH="false" flipV="false" rot="0">
              <a:off x="0" y="0"/>
              <a:ext cx="774770" cy="6230"/>
            </a:xfrm>
            <a:custGeom>
              <a:avLst/>
              <a:gdLst/>
              <a:ahLst/>
              <a:cxnLst/>
              <a:rect r="r" b="b" t="t" l="l"/>
              <a:pathLst>
                <a:path h="6230" w="774770">
                  <a:moveTo>
                    <a:pt x="0" y="0"/>
                  </a:moveTo>
                  <a:lnTo>
                    <a:pt x="774770" y="0"/>
                  </a:lnTo>
                  <a:lnTo>
                    <a:pt x="774770" y="6230"/>
                  </a:lnTo>
                  <a:lnTo>
                    <a:pt x="0" y="6230"/>
                  </a:lnTo>
                  <a:close/>
                </a:path>
              </a:pathLst>
            </a:custGeom>
            <a:solidFill>
              <a:srgbClr val="8F5B69"/>
            </a:solidFill>
          </p:spPr>
        </p:sp>
        <p:sp>
          <p:nvSpPr>
            <p:cNvPr name="TextBox 9" id="9"/>
            <p:cNvSpPr txBox="true"/>
            <p:nvPr/>
          </p:nvSpPr>
          <p:spPr>
            <a:xfrm>
              <a:off x="0" y="-38100"/>
              <a:ext cx="774770" cy="4433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579418" y="5319617"/>
            <a:ext cx="5058211" cy="7041100"/>
            <a:chOff x="0" y="0"/>
            <a:chExt cx="6744282" cy="9388133"/>
          </a:xfrm>
        </p:grpSpPr>
        <p:pic>
          <p:nvPicPr>
            <p:cNvPr name="Picture 11" id="11"/>
            <p:cNvPicPr>
              <a:picLocks noChangeAspect="true"/>
            </p:cNvPicPr>
            <p:nvPr/>
          </p:nvPicPr>
          <p:blipFill>
            <a:blip r:embed="rId3"/>
            <a:srcRect l="857" t="0" r="48810" b="0"/>
            <a:stretch>
              <a:fillRect/>
            </a:stretch>
          </p:blipFill>
          <p:spPr>
            <a:xfrm flipH="false" flipV="false">
              <a:off x="0" y="0"/>
              <a:ext cx="6744282" cy="9388133"/>
            </a:xfrm>
            <a:prstGeom prst="rect">
              <a:avLst/>
            </a:prstGeom>
          </p:spPr>
        </p:pic>
      </p:grpSp>
      <p:sp>
        <p:nvSpPr>
          <p:cNvPr name="TextBox 12" id="12"/>
          <p:cNvSpPr txBox="true"/>
          <p:nvPr/>
        </p:nvSpPr>
        <p:spPr>
          <a:xfrm rot="0">
            <a:off x="3356249" y="4350289"/>
            <a:ext cx="11575501" cy="3110332"/>
          </a:xfrm>
          <a:prstGeom prst="rect">
            <a:avLst/>
          </a:prstGeom>
        </p:spPr>
        <p:txBody>
          <a:bodyPr anchor="t" rtlCol="false" tIns="0" lIns="0" bIns="0" rIns="0">
            <a:spAutoFit/>
          </a:bodyPr>
          <a:lstStyle/>
          <a:p>
            <a:pPr algn="ctr">
              <a:lnSpc>
                <a:spcPts val="12356"/>
              </a:lnSpc>
            </a:pPr>
            <a:r>
              <a:rPr lang="en-US" sz="9964" b="true">
                <a:solidFill>
                  <a:srgbClr val="F4F2F1"/>
                </a:solidFill>
                <a:latin typeface="CMU Serif"/>
                <a:ea typeface="CMU Serif"/>
                <a:cs typeface="CMU Serif"/>
                <a:sym typeface="CMU Serif"/>
              </a:rPr>
              <a:t>UML CASE DIAGRAM</a:t>
            </a:r>
          </a:p>
        </p:txBody>
      </p:sp>
      <p:grpSp>
        <p:nvGrpSpPr>
          <p:cNvPr name="Group 13" id="13"/>
          <p:cNvGrpSpPr/>
          <p:nvPr/>
        </p:nvGrpSpPr>
        <p:grpSpPr>
          <a:xfrm rot="0">
            <a:off x="-41190" y="-669779"/>
            <a:ext cx="7039968" cy="4649687"/>
            <a:chOff x="0" y="0"/>
            <a:chExt cx="9386624" cy="6199583"/>
          </a:xfrm>
        </p:grpSpPr>
        <p:pic>
          <p:nvPicPr>
            <p:cNvPr name="Picture 14" id="14"/>
            <p:cNvPicPr>
              <a:picLocks noChangeAspect="true"/>
            </p:cNvPicPr>
            <p:nvPr/>
          </p:nvPicPr>
          <p:blipFill>
            <a:blip r:embed="rId4"/>
            <a:srcRect l="0" t="24375" r="0" b="9577"/>
            <a:stretch>
              <a:fillRect/>
            </a:stretch>
          </p:blipFill>
          <p:spPr>
            <a:xfrm flipH="false" flipV="false">
              <a:off x="0" y="0"/>
              <a:ext cx="9386624" cy="6199583"/>
            </a:xfrm>
            <a:prstGeom prst="rect">
              <a:avLst/>
            </a:prstGeom>
          </p:spPr>
        </p:pic>
      </p:grpSp>
      <p:grpSp>
        <p:nvGrpSpPr>
          <p:cNvPr name="Group 15" id="15"/>
          <p:cNvGrpSpPr/>
          <p:nvPr/>
        </p:nvGrpSpPr>
        <p:grpSpPr>
          <a:xfrm rot="0">
            <a:off x="10401017" y="7465151"/>
            <a:ext cx="7886983" cy="4324643"/>
            <a:chOff x="0" y="0"/>
            <a:chExt cx="10515977" cy="5766191"/>
          </a:xfrm>
        </p:grpSpPr>
        <p:pic>
          <p:nvPicPr>
            <p:cNvPr name="Picture 16" id="16"/>
            <p:cNvPicPr>
              <a:picLocks noChangeAspect="true"/>
            </p:cNvPicPr>
            <p:nvPr/>
          </p:nvPicPr>
          <p:blipFill>
            <a:blip r:embed="rId5"/>
            <a:srcRect l="10028" t="20336" r="0" b="5662"/>
            <a:stretch>
              <a:fillRect/>
            </a:stretch>
          </p:blipFill>
          <p:spPr>
            <a:xfrm flipH="false" flipV="false">
              <a:off x="0" y="0"/>
              <a:ext cx="10515977" cy="5766191"/>
            </a:xfrm>
            <a:prstGeom prst="rect">
              <a:avLst/>
            </a:prstGeom>
          </p:spPr>
        </p:pic>
      </p:gr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sp>
        <p:nvSpPr>
          <p:cNvPr name="Freeform 2" id="2"/>
          <p:cNvSpPr/>
          <p:nvPr/>
        </p:nvSpPr>
        <p:spPr>
          <a:xfrm flipH="false" flipV="false" rot="0">
            <a:off x="2055549" y="111527"/>
            <a:ext cx="14176901" cy="10063946"/>
          </a:xfrm>
          <a:custGeom>
            <a:avLst/>
            <a:gdLst/>
            <a:ahLst/>
            <a:cxnLst/>
            <a:rect r="r" b="b" t="t" l="l"/>
            <a:pathLst>
              <a:path h="10063946" w="14176901">
                <a:moveTo>
                  <a:pt x="0" y="0"/>
                </a:moveTo>
                <a:lnTo>
                  <a:pt x="14176902" y="0"/>
                </a:lnTo>
                <a:lnTo>
                  <a:pt x="14176902" y="10063946"/>
                </a:lnTo>
                <a:lnTo>
                  <a:pt x="0" y="10063946"/>
                </a:lnTo>
                <a:lnTo>
                  <a:pt x="0" y="0"/>
                </a:lnTo>
                <a:close/>
              </a:path>
            </a:pathLst>
          </a:custGeom>
          <a:blipFill>
            <a:blip r:embed="rId2"/>
            <a:stretch>
              <a:fillRect l="0" t="0" r="0" b="-127819"/>
            </a:stretch>
          </a:blipFill>
        </p:spPr>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sp>
        <p:nvSpPr>
          <p:cNvPr name="Freeform 2" id="2"/>
          <p:cNvSpPr/>
          <p:nvPr/>
        </p:nvSpPr>
        <p:spPr>
          <a:xfrm flipH="false" flipV="false" rot="0">
            <a:off x="3719996" y="238779"/>
            <a:ext cx="10848007" cy="9809441"/>
          </a:xfrm>
          <a:custGeom>
            <a:avLst/>
            <a:gdLst/>
            <a:ahLst/>
            <a:cxnLst/>
            <a:rect r="r" b="b" t="t" l="l"/>
            <a:pathLst>
              <a:path h="9809441" w="10848007">
                <a:moveTo>
                  <a:pt x="0" y="0"/>
                </a:moveTo>
                <a:lnTo>
                  <a:pt x="10848008" y="0"/>
                </a:lnTo>
                <a:lnTo>
                  <a:pt x="10848008" y="9809442"/>
                </a:lnTo>
                <a:lnTo>
                  <a:pt x="0" y="9809442"/>
                </a:lnTo>
                <a:lnTo>
                  <a:pt x="0" y="0"/>
                </a:lnTo>
                <a:close/>
              </a:path>
            </a:pathLst>
          </a:custGeom>
          <a:blipFill>
            <a:blip r:embed="rId2"/>
            <a:stretch>
              <a:fillRect l="0" t="-76748" r="0" b="-2099"/>
            </a:stretch>
          </a:blipFill>
        </p:spPr>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grpSp>
        <p:nvGrpSpPr>
          <p:cNvPr name="Group 2" id="2"/>
          <p:cNvGrpSpPr/>
          <p:nvPr/>
        </p:nvGrpSpPr>
        <p:grpSpPr>
          <a:xfrm rot="0">
            <a:off x="3157414" y="5895930"/>
            <a:ext cx="5378641" cy="47625"/>
            <a:chOff x="0" y="0"/>
            <a:chExt cx="703575" cy="6230"/>
          </a:xfrm>
        </p:grpSpPr>
        <p:sp>
          <p:nvSpPr>
            <p:cNvPr name="Freeform 3" id="3"/>
            <p:cNvSpPr/>
            <p:nvPr/>
          </p:nvSpPr>
          <p:spPr>
            <a:xfrm flipH="false" flipV="false" rot="0">
              <a:off x="0" y="0"/>
              <a:ext cx="703575" cy="6230"/>
            </a:xfrm>
            <a:custGeom>
              <a:avLst/>
              <a:gdLst/>
              <a:ahLst/>
              <a:cxnLst/>
              <a:rect r="r" b="b" t="t" l="l"/>
              <a:pathLst>
                <a:path h="6230" w="703575">
                  <a:moveTo>
                    <a:pt x="0" y="0"/>
                  </a:moveTo>
                  <a:lnTo>
                    <a:pt x="703575" y="0"/>
                  </a:lnTo>
                  <a:lnTo>
                    <a:pt x="703575" y="6230"/>
                  </a:lnTo>
                  <a:lnTo>
                    <a:pt x="0" y="6230"/>
                  </a:lnTo>
                  <a:close/>
                </a:path>
              </a:pathLst>
            </a:custGeom>
            <a:solidFill>
              <a:srgbClr val="8F5B69"/>
            </a:solidFill>
          </p:spPr>
        </p:sp>
        <p:sp>
          <p:nvSpPr>
            <p:cNvPr name="TextBox 4" id="4"/>
            <p:cNvSpPr txBox="true"/>
            <p:nvPr/>
          </p:nvSpPr>
          <p:spPr>
            <a:xfrm>
              <a:off x="0" y="-38100"/>
              <a:ext cx="703575" cy="4433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4797279" y="-3959326"/>
            <a:ext cx="4640971" cy="9524909"/>
            <a:chOff x="0" y="0"/>
            <a:chExt cx="6187962" cy="12699879"/>
          </a:xfrm>
        </p:grpSpPr>
        <p:pic>
          <p:nvPicPr>
            <p:cNvPr name="Picture 6" id="6"/>
            <p:cNvPicPr>
              <a:picLocks noChangeAspect="true"/>
            </p:cNvPicPr>
            <p:nvPr/>
          </p:nvPicPr>
          <p:blipFill>
            <a:blip r:embed="rId2"/>
            <a:srcRect l="69735" t="3415" r="0" b="3415"/>
            <a:stretch>
              <a:fillRect/>
            </a:stretch>
          </p:blipFill>
          <p:spPr>
            <a:xfrm flipH="false" flipV="false">
              <a:off x="0" y="0"/>
              <a:ext cx="6187962" cy="12699879"/>
            </a:xfrm>
            <a:prstGeom prst="rect">
              <a:avLst/>
            </a:prstGeom>
          </p:spPr>
        </p:pic>
      </p:grpSp>
      <p:grpSp>
        <p:nvGrpSpPr>
          <p:cNvPr name="Group 7" id="7"/>
          <p:cNvGrpSpPr/>
          <p:nvPr/>
        </p:nvGrpSpPr>
        <p:grpSpPr>
          <a:xfrm rot="0">
            <a:off x="8959561" y="5895930"/>
            <a:ext cx="5922911" cy="47625"/>
            <a:chOff x="0" y="0"/>
            <a:chExt cx="774770" cy="6230"/>
          </a:xfrm>
        </p:grpSpPr>
        <p:sp>
          <p:nvSpPr>
            <p:cNvPr name="Freeform 8" id="8"/>
            <p:cNvSpPr/>
            <p:nvPr/>
          </p:nvSpPr>
          <p:spPr>
            <a:xfrm flipH="false" flipV="false" rot="0">
              <a:off x="0" y="0"/>
              <a:ext cx="774770" cy="6230"/>
            </a:xfrm>
            <a:custGeom>
              <a:avLst/>
              <a:gdLst/>
              <a:ahLst/>
              <a:cxnLst/>
              <a:rect r="r" b="b" t="t" l="l"/>
              <a:pathLst>
                <a:path h="6230" w="774770">
                  <a:moveTo>
                    <a:pt x="0" y="0"/>
                  </a:moveTo>
                  <a:lnTo>
                    <a:pt x="774770" y="0"/>
                  </a:lnTo>
                  <a:lnTo>
                    <a:pt x="774770" y="6230"/>
                  </a:lnTo>
                  <a:lnTo>
                    <a:pt x="0" y="6230"/>
                  </a:lnTo>
                  <a:close/>
                </a:path>
              </a:pathLst>
            </a:custGeom>
            <a:solidFill>
              <a:srgbClr val="8F5B69"/>
            </a:solidFill>
          </p:spPr>
        </p:sp>
        <p:sp>
          <p:nvSpPr>
            <p:cNvPr name="TextBox 9" id="9"/>
            <p:cNvSpPr txBox="true"/>
            <p:nvPr/>
          </p:nvSpPr>
          <p:spPr>
            <a:xfrm>
              <a:off x="0" y="-38100"/>
              <a:ext cx="774770" cy="4433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579418" y="5319617"/>
            <a:ext cx="5058211" cy="7041100"/>
            <a:chOff x="0" y="0"/>
            <a:chExt cx="6744282" cy="9388133"/>
          </a:xfrm>
        </p:grpSpPr>
        <p:pic>
          <p:nvPicPr>
            <p:cNvPr name="Picture 11" id="11"/>
            <p:cNvPicPr>
              <a:picLocks noChangeAspect="true"/>
            </p:cNvPicPr>
            <p:nvPr/>
          </p:nvPicPr>
          <p:blipFill>
            <a:blip r:embed="rId3"/>
            <a:srcRect l="857" t="0" r="48810" b="0"/>
            <a:stretch>
              <a:fillRect/>
            </a:stretch>
          </p:blipFill>
          <p:spPr>
            <a:xfrm flipH="false" flipV="false">
              <a:off x="0" y="0"/>
              <a:ext cx="6744282" cy="9388133"/>
            </a:xfrm>
            <a:prstGeom prst="rect">
              <a:avLst/>
            </a:prstGeom>
          </p:spPr>
        </p:pic>
      </p:grpSp>
      <p:sp>
        <p:nvSpPr>
          <p:cNvPr name="TextBox 12" id="12"/>
          <p:cNvSpPr txBox="true"/>
          <p:nvPr/>
        </p:nvSpPr>
        <p:spPr>
          <a:xfrm rot="0">
            <a:off x="3356249" y="4350289"/>
            <a:ext cx="11575501" cy="3110332"/>
          </a:xfrm>
          <a:prstGeom prst="rect">
            <a:avLst/>
          </a:prstGeom>
        </p:spPr>
        <p:txBody>
          <a:bodyPr anchor="t" rtlCol="false" tIns="0" lIns="0" bIns="0" rIns="0">
            <a:spAutoFit/>
          </a:bodyPr>
          <a:lstStyle/>
          <a:p>
            <a:pPr algn="ctr">
              <a:lnSpc>
                <a:spcPts val="12356"/>
              </a:lnSpc>
            </a:pPr>
            <a:r>
              <a:rPr lang="en-US" sz="9964" b="true">
                <a:solidFill>
                  <a:srgbClr val="F4F2F1"/>
                </a:solidFill>
                <a:latin typeface="CMU Serif"/>
                <a:ea typeface="CMU Serif"/>
                <a:cs typeface="CMU Serif"/>
                <a:sym typeface="CMU Serif"/>
              </a:rPr>
              <a:t>DATABASE</a:t>
            </a:r>
          </a:p>
          <a:p>
            <a:pPr algn="ctr">
              <a:lnSpc>
                <a:spcPts val="12356"/>
              </a:lnSpc>
            </a:pPr>
            <a:r>
              <a:rPr lang="en-US" sz="9964" b="true">
                <a:solidFill>
                  <a:srgbClr val="F4F2F1"/>
                </a:solidFill>
                <a:latin typeface="CMU Serif"/>
                <a:ea typeface="CMU Serif"/>
                <a:cs typeface="CMU Serif"/>
                <a:sym typeface="CMU Serif"/>
              </a:rPr>
              <a:t>SCHEMA</a:t>
            </a:r>
          </a:p>
        </p:txBody>
      </p:sp>
      <p:grpSp>
        <p:nvGrpSpPr>
          <p:cNvPr name="Group 13" id="13"/>
          <p:cNvGrpSpPr/>
          <p:nvPr/>
        </p:nvGrpSpPr>
        <p:grpSpPr>
          <a:xfrm rot="0">
            <a:off x="-41190" y="-840166"/>
            <a:ext cx="7039968" cy="4649687"/>
            <a:chOff x="0" y="0"/>
            <a:chExt cx="9386624" cy="6199583"/>
          </a:xfrm>
        </p:grpSpPr>
        <p:pic>
          <p:nvPicPr>
            <p:cNvPr name="Picture 14" id="14"/>
            <p:cNvPicPr>
              <a:picLocks noChangeAspect="true"/>
            </p:cNvPicPr>
            <p:nvPr/>
          </p:nvPicPr>
          <p:blipFill>
            <a:blip r:embed="rId4"/>
            <a:srcRect l="0" t="24375" r="0" b="9577"/>
            <a:stretch>
              <a:fillRect/>
            </a:stretch>
          </p:blipFill>
          <p:spPr>
            <a:xfrm flipH="false" flipV="false">
              <a:off x="0" y="0"/>
              <a:ext cx="9386624" cy="6199583"/>
            </a:xfrm>
            <a:prstGeom prst="rect">
              <a:avLst/>
            </a:prstGeom>
          </p:spPr>
        </p:pic>
      </p:grpSp>
      <p:grpSp>
        <p:nvGrpSpPr>
          <p:cNvPr name="Group 15" id="15"/>
          <p:cNvGrpSpPr/>
          <p:nvPr/>
        </p:nvGrpSpPr>
        <p:grpSpPr>
          <a:xfrm rot="0">
            <a:off x="10401017" y="7460620"/>
            <a:ext cx="7886983" cy="4324643"/>
            <a:chOff x="0" y="0"/>
            <a:chExt cx="10515977" cy="5766191"/>
          </a:xfrm>
        </p:grpSpPr>
        <p:pic>
          <p:nvPicPr>
            <p:cNvPr name="Picture 16" id="16"/>
            <p:cNvPicPr>
              <a:picLocks noChangeAspect="true"/>
            </p:cNvPicPr>
            <p:nvPr/>
          </p:nvPicPr>
          <p:blipFill>
            <a:blip r:embed="rId5"/>
            <a:srcRect l="10028" t="20336" r="0" b="5662"/>
            <a:stretch>
              <a:fillRect/>
            </a:stretch>
          </p:blipFill>
          <p:spPr>
            <a:xfrm flipH="false" flipV="false">
              <a:off x="0" y="0"/>
              <a:ext cx="10515977" cy="5766191"/>
            </a:xfrm>
            <a:prstGeom prst="rect">
              <a:avLst/>
            </a:prstGeom>
          </p:spPr>
        </p:pic>
      </p:gr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sp>
        <p:nvSpPr>
          <p:cNvPr name="Freeform 2" id="2"/>
          <p:cNvSpPr/>
          <p:nvPr/>
        </p:nvSpPr>
        <p:spPr>
          <a:xfrm flipH="false" flipV="false" rot="0">
            <a:off x="7525320" y="0"/>
            <a:ext cx="6467173" cy="10126859"/>
          </a:xfrm>
          <a:custGeom>
            <a:avLst/>
            <a:gdLst/>
            <a:ahLst/>
            <a:cxnLst/>
            <a:rect r="r" b="b" t="t" l="l"/>
            <a:pathLst>
              <a:path h="10126859" w="6467173">
                <a:moveTo>
                  <a:pt x="0" y="0"/>
                </a:moveTo>
                <a:lnTo>
                  <a:pt x="6467173" y="0"/>
                </a:lnTo>
                <a:lnTo>
                  <a:pt x="6467173" y="10126859"/>
                </a:lnTo>
                <a:lnTo>
                  <a:pt x="0" y="10126859"/>
                </a:lnTo>
                <a:lnTo>
                  <a:pt x="0" y="0"/>
                </a:lnTo>
                <a:close/>
              </a:path>
            </a:pathLst>
          </a:custGeom>
          <a:blipFill>
            <a:blip r:embed="rId2"/>
            <a:stretch>
              <a:fillRect l="-51890" t="-21" r="0" b="-21"/>
            </a:stretch>
          </a:blipFill>
        </p:spPr>
      </p:sp>
      <p:sp>
        <p:nvSpPr>
          <p:cNvPr name="Freeform 3" id="3"/>
          <p:cNvSpPr/>
          <p:nvPr/>
        </p:nvSpPr>
        <p:spPr>
          <a:xfrm flipH="false" flipV="false" rot="0">
            <a:off x="2806954" y="3845104"/>
            <a:ext cx="3364758" cy="2596792"/>
          </a:xfrm>
          <a:custGeom>
            <a:avLst/>
            <a:gdLst/>
            <a:ahLst/>
            <a:cxnLst/>
            <a:rect r="r" b="b" t="t" l="l"/>
            <a:pathLst>
              <a:path h="2596792" w="3364758">
                <a:moveTo>
                  <a:pt x="0" y="0"/>
                </a:moveTo>
                <a:lnTo>
                  <a:pt x="3364758" y="0"/>
                </a:lnTo>
                <a:lnTo>
                  <a:pt x="3364758" y="2596792"/>
                </a:lnTo>
                <a:lnTo>
                  <a:pt x="0" y="2596792"/>
                </a:lnTo>
                <a:lnTo>
                  <a:pt x="0" y="0"/>
                </a:lnTo>
                <a:close/>
              </a:path>
            </a:pathLst>
          </a:custGeom>
          <a:blipFill>
            <a:blip r:embed="rId2"/>
            <a:stretch>
              <a:fillRect l="0" t="0" r="-343572" b="-492783"/>
            </a:stretch>
          </a:blipFill>
        </p:spPr>
      </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271117"/>
        </a:solidFill>
      </p:bgPr>
    </p:bg>
    <p:spTree>
      <p:nvGrpSpPr>
        <p:cNvPr id="1" name=""/>
        <p:cNvGrpSpPr/>
        <p:nvPr/>
      </p:nvGrpSpPr>
      <p:grpSpPr>
        <a:xfrm>
          <a:off x="0" y="0"/>
          <a:ext cx="0" cy="0"/>
          <a:chOff x="0" y="0"/>
          <a:chExt cx="0" cy="0"/>
        </a:xfrm>
      </p:grpSpPr>
      <p:grpSp>
        <p:nvGrpSpPr>
          <p:cNvPr name="Group 2" id="2"/>
          <p:cNvGrpSpPr/>
          <p:nvPr/>
        </p:nvGrpSpPr>
        <p:grpSpPr>
          <a:xfrm rot="0">
            <a:off x="3157414" y="5895930"/>
            <a:ext cx="5378641" cy="47625"/>
            <a:chOff x="0" y="0"/>
            <a:chExt cx="703575" cy="6230"/>
          </a:xfrm>
        </p:grpSpPr>
        <p:sp>
          <p:nvSpPr>
            <p:cNvPr name="Freeform 3" id="3"/>
            <p:cNvSpPr/>
            <p:nvPr/>
          </p:nvSpPr>
          <p:spPr>
            <a:xfrm flipH="false" flipV="false" rot="0">
              <a:off x="0" y="0"/>
              <a:ext cx="703575" cy="6230"/>
            </a:xfrm>
            <a:custGeom>
              <a:avLst/>
              <a:gdLst/>
              <a:ahLst/>
              <a:cxnLst/>
              <a:rect r="r" b="b" t="t" l="l"/>
              <a:pathLst>
                <a:path h="6230" w="703575">
                  <a:moveTo>
                    <a:pt x="0" y="0"/>
                  </a:moveTo>
                  <a:lnTo>
                    <a:pt x="703575" y="0"/>
                  </a:lnTo>
                  <a:lnTo>
                    <a:pt x="703575" y="6230"/>
                  </a:lnTo>
                  <a:lnTo>
                    <a:pt x="0" y="6230"/>
                  </a:lnTo>
                  <a:close/>
                </a:path>
              </a:pathLst>
            </a:custGeom>
            <a:solidFill>
              <a:srgbClr val="8F5B69"/>
            </a:solidFill>
          </p:spPr>
        </p:sp>
        <p:sp>
          <p:nvSpPr>
            <p:cNvPr name="TextBox 4" id="4"/>
            <p:cNvSpPr txBox="true"/>
            <p:nvPr/>
          </p:nvSpPr>
          <p:spPr>
            <a:xfrm>
              <a:off x="0" y="-38100"/>
              <a:ext cx="703575" cy="4433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4797279" y="-3959326"/>
            <a:ext cx="4640971" cy="9524909"/>
            <a:chOff x="0" y="0"/>
            <a:chExt cx="6187962" cy="12699879"/>
          </a:xfrm>
        </p:grpSpPr>
        <p:pic>
          <p:nvPicPr>
            <p:cNvPr name="Picture 6" id="6"/>
            <p:cNvPicPr>
              <a:picLocks noChangeAspect="true"/>
            </p:cNvPicPr>
            <p:nvPr/>
          </p:nvPicPr>
          <p:blipFill>
            <a:blip r:embed="rId2"/>
            <a:srcRect l="69735" t="3415" r="0" b="3415"/>
            <a:stretch>
              <a:fillRect/>
            </a:stretch>
          </p:blipFill>
          <p:spPr>
            <a:xfrm flipH="false" flipV="false">
              <a:off x="0" y="0"/>
              <a:ext cx="6187962" cy="12699879"/>
            </a:xfrm>
            <a:prstGeom prst="rect">
              <a:avLst/>
            </a:prstGeom>
          </p:spPr>
        </p:pic>
      </p:grpSp>
      <p:grpSp>
        <p:nvGrpSpPr>
          <p:cNvPr name="Group 7" id="7"/>
          <p:cNvGrpSpPr/>
          <p:nvPr/>
        </p:nvGrpSpPr>
        <p:grpSpPr>
          <a:xfrm rot="0">
            <a:off x="8959561" y="5895930"/>
            <a:ext cx="5922911" cy="47625"/>
            <a:chOff x="0" y="0"/>
            <a:chExt cx="774770" cy="6230"/>
          </a:xfrm>
        </p:grpSpPr>
        <p:sp>
          <p:nvSpPr>
            <p:cNvPr name="Freeform 8" id="8"/>
            <p:cNvSpPr/>
            <p:nvPr/>
          </p:nvSpPr>
          <p:spPr>
            <a:xfrm flipH="false" flipV="false" rot="0">
              <a:off x="0" y="0"/>
              <a:ext cx="774770" cy="6230"/>
            </a:xfrm>
            <a:custGeom>
              <a:avLst/>
              <a:gdLst/>
              <a:ahLst/>
              <a:cxnLst/>
              <a:rect r="r" b="b" t="t" l="l"/>
              <a:pathLst>
                <a:path h="6230" w="774770">
                  <a:moveTo>
                    <a:pt x="0" y="0"/>
                  </a:moveTo>
                  <a:lnTo>
                    <a:pt x="774770" y="0"/>
                  </a:lnTo>
                  <a:lnTo>
                    <a:pt x="774770" y="6230"/>
                  </a:lnTo>
                  <a:lnTo>
                    <a:pt x="0" y="6230"/>
                  </a:lnTo>
                  <a:close/>
                </a:path>
              </a:pathLst>
            </a:custGeom>
            <a:solidFill>
              <a:srgbClr val="8F5B69"/>
            </a:solidFill>
          </p:spPr>
        </p:sp>
        <p:sp>
          <p:nvSpPr>
            <p:cNvPr name="TextBox 9" id="9"/>
            <p:cNvSpPr txBox="true"/>
            <p:nvPr/>
          </p:nvSpPr>
          <p:spPr>
            <a:xfrm>
              <a:off x="0" y="-38100"/>
              <a:ext cx="774770" cy="4433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579418" y="5319617"/>
            <a:ext cx="5058211" cy="7041100"/>
            <a:chOff x="0" y="0"/>
            <a:chExt cx="6744282" cy="9388133"/>
          </a:xfrm>
        </p:grpSpPr>
        <p:pic>
          <p:nvPicPr>
            <p:cNvPr name="Picture 11" id="11"/>
            <p:cNvPicPr>
              <a:picLocks noChangeAspect="true"/>
            </p:cNvPicPr>
            <p:nvPr/>
          </p:nvPicPr>
          <p:blipFill>
            <a:blip r:embed="rId3"/>
            <a:srcRect l="857" t="0" r="48810" b="0"/>
            <a:stretch>
              <a:fillRect/>
            </a:stretch>
          </p:blipFill>
          <p:spPr>
            <a:xfrm flipH="false" flipV="false">
              <a:off x="0" y="0"/>
              <a:ext cx="6744282" cy="9388133"/>
            </a:xfrm>
            <a:prstGeom prst="rect">
              <a:avLst/>
            </a:prstGeom>
          </p:spPr>
        </p:pic>
      </p:grpSp>
      <p:sp>
        <p:nvSpPr>
          <p:cNvPr name="TextBox 12" id="12"/>
          <p:cNvSpPr txBox="true"/>
          <p:nvPr/>
        </p:nvSpPr>
        <p:spPr>
          <a:xfrm rot="0">
            <a:off x="2908481" y="4448543"/>
            <a:ext cx="12471037" cy="2856673"/>
          </a:xfrm>
          <a:prstGeom prst="rect">
            <a:avLst/>
          </a:prstGeom>
        </p:spPr>
        <p:txBody>
          <a:bodyPr anchor="t" rtlCol="false" tIns="0" lIns="0" bIns="0" rIns="0">
            <a:spAutoFit/>
          </a:bodyPr>
          <a:lstStyle/>
          <a:p>
            <a:pPr algn="ctr">
              <a:lnSpc>
                <a:spcPts val="11301"/>
              </a:lnSpc>
            </a:pPr>
            <a:r>
              <a:rPr lang="en-US" sz="9113" b="true">
                <a:solidFill>
                  <a:srgbClr val="F4F2F1"/>
                </a:solidFill>
                <a:latin typeface="CMU Serif"/>
                <a:ea typeface="CMU Serif"/>
                <a:cs typeface="CMU Serif"/>
                <a:sym typeface="CMU Serif"/>
              </a:rPr>
              <a:t>SYSTEM</a:t>
            </a:r>
          </a:p>
          <a:p>
            <a:pPr algn="ctr">
              <a:lnSpc>
                <a:spcPts val="11301"/>
              </a:lnSpc>
            </a:pPr>
            <a:r>
              <a:rPr lang="en-US" sz="9113" b="true">
                <a:solidFill>
                  <a:srgbClr val="F4F2F1"/>
                </a:solidFill>
                <a:latin typeface="CMU Serif"/>
                <a:ea typeface="CMU Serif"/>
                <a:cs typeface="CMU Serif"/>
                <a:sym typeface="CMU Serif"/>
              </a:rPr>
              <a:t>DEMONSTRATION</a:t>
            </a:r>
          </a:p>
        </p:txBody>
      </p:sp>
      <p:grpSp>
        <p:nvGrpSpPr>
          <p:cNvPr name="Group 13" id="13"/>
          <p:cNvGrpSpPr/>
          <p:nvPr/>
        </p:nvGrpSpPr>
        <p:grpSpPr>
          <a:xfrm rot="0">
            <a:off x="-41190" y="-669779"/>
            <a:ext cx="7039968" cy="4649687"/>
            <a:chOff x="0" y="0"/>
            <a:chExt cx="9386624" cy="6199583"/>
          </a:xfrm>
        </p:grpSpPr>
        <p:pic>
          <p:nvPicPr>
            <p:cNvPr name="Picture 14" id="14"/>
            <p:cNvPicPr>
              <a:picLocks noChangeAspect="true"/>
            </p:cNvPicPr>
            <p:nvPr/>
          </p:nvPicPr>
          <p:blipFill>
            <a:blip r:embed="rId4"/>
            <a:srcRect l="0" t="24375" r="0" b="9577"/>
            <a:stretch>
              <a:fillRect/>
            </a:stretch>
          </p:blipFill>
          <p:spPr>
            <a:xfrm flipH="false" flipV="false">
              <a:off x="0" y="0"/>
              <a:ext cx="9386624" cy="6199583"/>
            </a:xfrm>
            <a:prstGeom prst="rect">
              <a:avLst/>
            </a:prstGeom>
          </p:spPr>
        </p:pic>
      </p:grpSp>
      <p:grpSp>
        <p:nvGrpSpPr>
          <p:cNvPr name="Group 15" id="15"/>
          <p:cNvGrpSpPr/>
          <p:nvPr/>
        </p:nvGrpSpPr>
        <p:grpSpPr>
          <a:xfrm rot="0">
            <a:off x="10401017" y="7465151"/>
            <a:ext cx="7886983" cy="4324643"/>
            <a:chOff x="0" y="0"/>
            <a:chExt cx="10515977" cy="5766191"/>
          </a:xfrm>
        </p:grpSpPr>
        <p:pic>
          <p:nvPicPr>
            <p:cNvPr name="Picture 16" id="16"/>
            <p:cNvPicPr>
              <a:picLocks noChangeAspect="true"/>
            </p:cNvPicPr>
            <p:nvPr/>
          </p:nvPicPr>
          <p:blipFill>
            <a:blip r:embed="rId5"/>
            <a:srcRect l="10028" t="20336" r="0" b="5662"/>
            <a:stretch>
              <a:fillRect/>
            </a:stretch>
          </p:blipFill>
          <p:spPr>
            <a:xfrm flipH="false" flipV="false">
              <a:off x="0" y="0"/>
              <a:ext cx="10515977" cy="5766191"/>
            </a:xfrm>
            <a:prstGeom prst="rect">
              <a:avLst/>
            </a:prstGeom>
          </p:spPr>
        </p:pic>
      </p:grpSp>
    </p:spTree>
  </p:cSld>
  <p:clrMapOvr>
    <a:masterClrMapping/>
  </p:clrMapOvr>
  <p:transition spd="fast">
    <p:fade/>
  </p:transition>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grpSp>
        <p:nvGrpSpPr>
          <p:cNvPr name="Group 2" id="2"/>
          <p:cNvGrpSpPr/>
          <p:nvPr/>
        </p:nvGrpSpPr>
        <p:grpSpPr>
          <a:xfrm rot="0">
            <a:off x="0" y="2057400"/>
            <a:ext cx="12614054" cy="8229600"/>
            <a:chOff x="0" y="0"/>
            <a:chExt cx="16818739" cy="10972800"/>
          </a:xfrm>
        </p:grpSpPr>
        <p:pic>
          <p:nvPicPr>
            <p:cNvPr name="Picture 3" id="3"/>
            <p:cNvPicPr>
              <a:picLocks noChangeAspect="true"/>
            </p:cNvPicPr>
            <p:nvPr/>
          </p:nvPicPr>
          <p:blipFill>
            <a:blip r:embed="rId2"/>
            <a:srcRect l="0" t="2076" r="0" b="0"/>
            <a:stretch>
              <a:fillRect/>
            </a:stretch>
          </p:blipFill>
          <p:spPr>
            <a:xfrm flipH="false" flipV="false">
              <a:off x="0" y="0"/>
              <a:ext cx="16818739" cy="10972800"/>
            </a:xfrm>
            <a:prstGeom prst="rect">
              <a:avLst/>
            </a:prstGeom>
          </p:spPr>
        </p:pic>
      </p:grpSp>
      <p:grpSp>
        <p:nvGrpSpPr>
          <p:cNvPr name="Group 4" id="4"/>
          <p:cNvGrpSpPr/>
          <p:nvPr/>
        </p:nvGrpSpPr>
        <p:grpSpPr>
          <a:xfrm rot="0">
            <a:off x="9144000" y="0"/>
            <a:ext cx="9144000" cy="6668890"/>
            <a:chOff x="0" y="0"/>
            <a:chExt cx="2408296" cy="1756415"/>
          </a:xfrm>
        </p:grpSpPr>
        <p:sp>
          <p:nvSpPr>
            <p:cNvPr name="Freeform 5" id="5"/>
            <p:cNvSpPr/>
            <p:nvPr/>
          </p:nvSpPr>
          <p:spPr>
            <a:xfrm flipH="false" flipV="false" rot="0">
              <a:off x="0" y="0"/>
              <a:ext cx="2408296" cy="1756415"/>
            </a:xfrm>
            <a:custGeom>
              <a:avLst/>
              <a:gdLst/>
              <a:ahLst/>
              <a:cxnLst/>
              <a:rect r="r" b="b" t="t" l="l"/>
              <a:pathLst>
                <a:path h="1756415" w="2408296">
                  <a:moveTo>
                    <a:pt x="0" y="0"/>
                  </a:moveTo>
                  <a:lnTo>
                    <a:pt x="2408296" y="0"/>
                  </a:lnTo>
                  <a:lnTo>
                    <a:pt x="2408296" y="1756415"/>
                  </a:lnTo>
                  <a:lnTo>
                    <a:pt x="0" y="1756415"/>
                  </a:lnTo>
                  <a:close/>
                </a:path>
              </a:pathLst>
            </a:custGeom>
            <a:solidFill>
              <a:srgbClr val="4F3139"/>
            </a:solidFill>
          </p:spPr>
        </p:sp>
        <p:sp>
          <p:nvSpPr>
            <p:cNvPr name="TextBox 6" id="6"/>
            <p:cNvSpPr txBox="true"/>
            <p:nvPr/>
          </p:nvSpPr>
          <p:spPr>
            <a:xfrm>
              <a:off x="0" y="-38100"/>
              <a:ext cx="2408296" cy="179451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0379222" y="2385126"/>
            <a:ext cx="7060394" cy="1501019"/>
          </a:xfrm>
          <a:prstGeom prst="rect">
            <a:avLst/>
          </a:prstGeom>
        </p:spPr>
        <p:txBody>
          <a:bodyPr anchor="t" rtlCol="false" tIns="0" lIns="0" bIns="0" rIns="0">
            <a:spAutoFit/>
          </a:bodyPr>
          <a:lstStyle/>
          <a:p>
            <a:pPr algn="l">
              <a:lnSpc>
                <a:spcPts val="12076"/>
              </a:lnSpc>
            </a:pPr>
            <a:r>
              <a:rPr lang="en-US" sz="9739" b="true">
                <a:solidFill>
                  <a:srgbClr val="F4F2F1"/>
                </a:solidFill>
                <a:latin typeface="CMU Serif"/>
                <a:ea typeface="CMU Serif"/>
                <a:cs typeface="CMU Serif"/>
                <a:sym typeface="CMU Serif"/>
              </a:rPr>
              <a:t>Thank You</a:t>
            </a:r>
          </a:p>
        </p:txBody>
      </p:sp>
      <p:sp>
        <p:nvSpPr>
          <p:cNvPr name="TextBox 8" id="8"/>
          <p:cNvSpPr txBox="true"/>
          <p:nvPr/>
        </p:nvSpPr>
        <p:spPr>
          <a:xfrm rot="0">
            <a:off x="10379222" y="3857570"/>
            <a:ext cx="7908778" cy="540493"/>
          </a:xfrm>
          <a:prstGeom prst="rect">
            <a:avLst/>
          </a:prstGeom>
        </p:spPr>
        <p:txBody>
          <a:bodyPr anchor="t" rtlCol="false" tIns="0" lIns="0" bIns="0" rIns="0">
            <a:spAutoFit/>
          </a:bodyPr>
          <a:lstStyle/>
          <a:p>
            <a:pPr algn="l">
              <a:lnSpc>
                <a:spcPts val="2239"/>
              </a:lnSpc>
              <a:spcBef>
                <a:spcPct val="0"/>
              </a:spcBef>
            </a:pPr>
            <a:r>
              <a:rPr lang="en-US" sz="1599" spc="1052">
                <a:solidFill>
                  <a:srgbClr val="F4F2F1"/>
                </a:solidFill>
                <a:latin typeface="Source Sans Pro"/>
                <a:ea typeface="Source Sans Pro"/>
                <a:cs typeface="Source Sans Pro"/>
                <a:sym typeface="Source Sans Pro"/>
              </a:rPr>
              <a:t>SYNC SUITES HOTEL RESERVATION SYSTEM</a:t>
            </a:r>
          </a:p>
        </p:txBody>
      </p:sp>
      <p:grpSp>
        <p:nvGrpSpPr>
          <p:cNvPr name="Group 9" id="9"/>
          <p:cNvGrpSpPr/>
          <p:nvPr/>
        </p:nvGrpSpPr>
        <p:grpSpPr>
          <a:xfrm rot="0">
            <a:off x="10379222" y="2270826"/>
            <a:ext cx="1245141" cy="47625"/>
            <a:chOff x="0" y="0"/>
            <a:chExt cx="327938" cy="12543"/>
          </a:xfrm>
        </p:grpSpPr>
        <p:sp>
          <p:nvSpPr>
            <p:cNvPr name="Freeform 10" id="10"/>
            <p:cNvSpPr/>
            <p:nvPr/>
          </p:nvSpPr>
          <p:spPr>
            <a:xfrm flipH="false" flipV="false" rot="0">
              <a:off x="0" y="0"/>
              <a:ext cx="327938" cy="12543"/>
            </a:xfrm>
            <a:custGeom>
              <a:avLst/>
              <a:gdLst/>
              <a:ahLst/>
              <a:cxnLst/>
              <a:rect r="r" b="b" t="t" l="l"/>
              <a:pathLst>
                <a:path h="12543" w="327938">
                  <a:moveTo>
                    <a:pt x="0" y="0"/>
                  </a:moveTo>
                  <a:lnTo>
                    <a:pt x="327938" y="0"/>
                  </a:lnTo>
                  <a:lnTo>
                    <a:pt x="327938" y="12543"/>
                  </a:lnTo>
                  <a:lnTo>
                    <a:pt x="0" y="12543"/>
                  </a:lnTo>
                  <a:close/>
                </a:path>
              </a:pathLst>
            </a:custGeom>
            <a:solidFill>
              <a:srgbClr val="F4F2F1"/>
            </a:solidFill>
          </p:spPr>
        </p:sp>
        <p:sp>
          <p:nvSpPr>
            <p:cNvPr name="TextBox 11" id="11"/>
            <p:cNvSpPr txBox="true"/>
            <p:nvPr/>
          </p:nvSpPr>
          <p:spPr>
            <a:xfrm>
              <a:off x="0" y="-38100"/>
              <a:ext cx="327938" cy="5064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1741269" y="2270826"/>
            <a:ext cx="325026" cy="47625"/>
            <a:chOff x="0" y="0"/>
            <a:chExt cx="85604" cy="12543"/>
          </a:xfrm>
        </p:grpSpPr>
        <p:sp>
          <p:nvSpPr>
            <p:cNvPr name="Freeform 13" id="13"/>
            <p:cNvSpPr/>
            <p:nvPr/>
          </p:nvSpPr>
          <p:spPr>
            <a:xfrm flipH="false" flipV="false" rot="0">
              <a:off x="0" y="0"/>
              <a:ext cx="85604" cy="12543"/>
            </a:xfrm>
            <a:custGeom>
              <a:avLst/>
              <a:gdLst/>
              <a:ahLst/>
              <a:cxnLst/>
              <a:rect r="r" b="b" t="t" l="l"/>
              <a:pathLst>
                <a:path h="12543" w="85604">
                  <a:moveTo>
                    <a:pt x="0" y="0"/>
                  </a:moveTo>
                  <a:lnTo>
                    <a:pt x="85604" y="0"/>
                  </a:lnTo>
                  <a:lnTo>
                    <a:pt x="85604" y="12543"/>
                  </a:lnTo>
                  <a:lnTo>
                    <a:pt x="0" y="12543"/>
                  </a:lnTo>
                  <a:close/>
                </a:path>
              </a:pathLst>
            </a:custGeom>
            <a:solidFill>
              <a:srgbClr val="F4F2F1"/>
            </a:solidFill>
          </p:spPr>
        </p:sp>
        <p:sp>
          <p:nvSpPr>
            <p:cNvPr name="TextBox 14" id="14"/>
            <p:cNvSpPr txBox="true"/>
            <p:nvPr/>
          </p:nvSpPr>
          <p:spPr>
            <a:xfrm>
              <a:off x="0" y="-38100"/>
              <a:ext cx="85604" cy="50643"/>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DAHJ7sQk49g</dc:identifier>
  <dcterms:modified xsi:type="dcterms:W3CDTF">2011-08-01T06:04:30Z</dcterms:modified>
  <cp:revision>1</cp:revision>
  <dc:title>Sync</dc:title>
</cp:coreProperties>
</file>